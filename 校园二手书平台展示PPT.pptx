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校园二手书交易平台产品功能展示，2026年6月。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五大章节：学生Web端、管理后台、技术架构、问题解决、优化计划。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学生Web端首页，学院下拉筛选、AJAX搜索、四种排序。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书籍详情页展示封面图、实拍照片、完整信息，一键购买。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学生注册登录独立页面，暖棕渐变+香槟金按钮。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卖书FormData提交2-5张照片，求购广场学院筛选。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订单双视角管理，完整生命周期。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学生Web端12页面覆盖完整购书流程。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二、管理后台 — 7大模块，数据管理中枢。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核心指标一览，审核通过直接上架。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订单详情双栏等高，用户管理支持软删除。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求购下拉筛选+软删除，分类学院一一对应。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学院增删改同步分类，评价完整展示。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三栏架构：后端Laravel、Web前端Blade+Admin、客户端基础设施。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前4个问题：MyISAM引擎、软删除遗漏、HTTP图片阻断、多图上传。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后4个问题：N+1查询、@csrf DOM破坏、ENUM缺值、评价功能补齐。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五方向：技术升级、支付集成、搜索推荐、体验优化、质量保障。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6 KPI：全平台覆盖、18表、7学院、47功能点、轻奢风、全栈自研。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感谢观看。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75a67792bfe703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e280f76178c1a63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2904966febd2f94.png"/>
  <Relationship Id="rId3" Type="http://schemas.openxmlformats.org/officeDocument/2006/relationships/image" Target="../media/image_4cf79f2043df7db2.pn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0405ecfe2ea0e91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681253ab29bc792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4cb76f9437dfd20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6a68c342475e1c8.png"/>
  <Relationship Id="rId3" Type="http://schemas.openxmlformats.org/officeDocument/2006/relationships/image" Target="../media/image_f16c7b9eff6603ec.pn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69a0192bfb7348b.png"/>
  <Relationship Id="rId3" Type="http://schemas.openxmlformats.org/officeDocument/2006/relationships/image" Target="../media/image_f5957bea267f6044.pn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972ea405a14024d.png"/>
  <Relationship Id="rId3" Type="http://schemas.openxmlformats.org/officeDocument/2006/relationships/image" Target="../media/image_4ecc35f66dd99494.png"/>
  <Relationship Id="rId4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e7f7178e4a4b351.png"/>
  <Relationship Id="rId3" Type="http://schemas.openxmlformats.org/officeDocument/2006/relationships/image" Target="../media/image_70b9ae9d07db33a2.png"/>
  <Relationship Id="rId4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C2416"/>
              </a:gs>
              <a:gs pos="40000">
                <a:srgbClr val="3D3020"/>
              </a:gs>
              <a:gs pos="100000">
                <a:srgbClr val="2C2416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10000"/>
                </a:srgbClr>
              </a:gs>
              <a:gs pos="100000">
                <a:srgbClr val="B4945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8286750" y="-762000"/>
            <a:ext cx="5334000" cy="5334000"/>
            <a:chOff x="8286750" y="-762000"/>
            <a:chExt cx="5334000" cy="5334000"/>
          </a:xfrm>
        </p:grpSpPr>
        <p:sp>
          <p:nvSpPr>
            <p:cNvPr id="4" name="Ellipse 4"/>
            <p:cNvSpPr/>
            <p:nvPr/>
          </p:nvSpPr>
          <p:spPr>
            <a:xfrm>
              <a:off x="8286750" y="-762000"/>
              <a:ext cx="5334000" cy="5334000"/>
            </a:xfrm>
            <a:prstGeom prst="ellipse">
              <a:avLst/>
            </a:prstGeom>
            <a:noFill/>
            <a:ln w="9525">
              <a:solidFill>
                <a:srgbClr val="B49450">
                  <a:alpha val="6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9048750" y="0"/>
              <a:ext cx="3810000" cy="3810000"/>
            </a:xfrm>
            <a:prstGeom prst="ellipse">
              <a:avLst/>
            </a:prstGeom>
            <a:noFill/>
            <a:ln w="9525">
              <a:solidFill>
                <a:srgbClr val="B49450">
                  <a:alpha val="8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810750" y="762000"/>
              <a:ext cx="2286000" cy="2286000"/>
            </a:xfrm>
            <a:prstGeom prst="ellipse">
              <a:avLst/>
            </a:prstGeom>
            <a:noFill/>
            <a:ln w="19050">
              <a:solidFill>
                <a:srgbClr val="B49450">
                  <a:alpha val="10000"/>
                </a:srgbClr>
              </a:solidFill>
            </a:ln>
          </p:spPr>
        </p:sp>
      </p:grpSp>
      <p:sp>
        <p:nvSpPr>
          <p:cNvPr id="8" name="Ellipse 8"/>
          <p:cNvSpPr/>
          <p:nvPr/>
        </p:nvSpPr>
        <p:spPr>
          <a:xfrm>
            <a:off x="-762000" y="4476750"/>
            <a:ext cx="3429000" cy="3429000"/>
          </a:xfrm>
          <a:prstGeom prst="ellipse">
            <a:avLst/>
          </a:prstGeom>
          <a:noFill/>
          <a:ln w="9525">
            <a:solidFill>
              <a:srgbClr val="B49450">
                <a:alpha val="5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noFill/>
          <a:ln w="9525">
            <a:solidFill>
              <a:srgbClr val="B49450">
                <a:alpha val="7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3238500" y="352425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19050">
            <a:gradFill>
              <a:gsLst>
                <a:gs pos="0">
                  <a:srgbClr val="B49450">
                    <a:alpha val="0"/>
                  </a:srgbClr>
                </a:gs>
                <a:gs pos="30000">
                  <a:srgbClr val="B49450">
                    <a:alpha val="60000"/>
                  </a:srgbClr>
                </a:gs>
                <a:gs pos="50000">
                  <a:srgbClr val="D4BC7C"/>
                </a:gs>
                <a:gs pos="70000">
                  <a:srgbClr val="B49450">
                    <a:alpha val="60000"/>
                  </a:srgbClr>
                </a:gs>
                <a:gs pos="100000">
                  <a:srgbClr val="B49450">
                    <a:alpha val="0"/>
                  </a:srgbClr>
                </a:gs>
              </a:gsLst>
              <a:lin ang="0" scaled="1"/>
            </a:gradFill>
          </a:ln>
        </p:spPr>
      </p:sp>
      <p:grpSp>
        <p:nvGrpSpPr>
          <p:cNvPr id="13" name="Group 13"/>
          <p:cNvGrpSpPr/>
          <p:nvPr/>
        </p:nvGrpSpPr>
        <p:grpSpPr>
          <a:xfrm>
            <a:off x="2721412" y="2100262"/>
            <a:ext cx="6749177" cy="1371600"/>
            <a:chOff x="2721412" y="2100262"/>
            <a:chExt cx="6749177" cy="1371600"/>
          </a:xfrm>
        </p:grpSpPr>
        <p:sp>
          <p:nvSpPr>
            <p:cNvPr id="11" name="TextBox 11"/>
            <p:cNvSpPr txBox="1"/>
            <p:nvPr/>
          </p:nvSpPr>
          <p:spPr>
            <a:xfrm>
              <a:off x="2721412" y="2100262"/>
              <a:ext cx="6749177" cy="1066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0" b="1" dirty="0">
                  <a:solidFill>
                    <a:srgbClr val="D4BC7C"/>
                  </a:solidFill>
                  <a:latin typeface="Georgia"/>
                  <a:ea typeface="KaiTi"/>
                  <a:cs typeface="Georgia"/>
                </a:rPr>
                <a:t>校园二手书交易平台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27092" y="3075622"/>
              <a:ext cx="233781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B49450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—— 产品功能展示 ——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48568" y="5680710"/>
            <a:ext cx="3094863" cy="610552"/>
            <a:chOff x="4548568" y="5680710"/>
            <a:chExt cx="3094863" cy="610552"/>
          </a:xfrm>
        </p:grpSpPr>
        <p:sp>
          <p:nvSpPr>
            <p:cNvPr id="14" name="TextBox 14"/>
            <p:cNvSpPr txBox="1"/>
            <p:nvPr/>
          </p:nvSpPr>
          <p:spPr>
            <a:xfrm>
              <a:off x="4548568" y="5680710"/>
              <a:ext cx="30948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Web 端 · 移动端（微信小程序）· 管理后台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50123" y="6077902"/>
              <a:ext cx="6917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478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2026年6月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762000" y="476250"/>
            <a:ext cx="10668000" cy="762000"/>
            <a:chOff x="762000" y="476250"/>
            <a:chExt cx="10668000" cy="76200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647700"/>
            </a:xfrm>
            <a:prstGeom prst="roundRect">
              <a:avLst>
                <a:gd name="adj" fmla="val 50000"/>
              </a:avLst>
            </a:prstGeom>
            <a:solidFill>
              <a:srgbClr val="B4945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2020" y="560070"/>
              <a:ext cx="7330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目录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980599"/>
              <a:ext cx="26800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产品功能 + 技术架构 + 开发总结 + 优化规划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9906000" y="476250"/>
              <a:ext cx="1524000" cy="762000"/>
              <a:chOff x="9906000" y="476250"/>
              <a:chExt cx="1524000" cy="7620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9906000" y="476250"/>
                <a:ext cx="1524000" cy="762000"/>
              </a:xfrm>
              <a:prstGeom prst="roundRect">
                <a:avLst>
                  <a:gd name="adj" fmla="val 17500"/>
                </a:avLst>
              </a:prstGeom>
              <a:solidFill>
                <a:srgbClr val="FFFDF9"/>
              </a:solidFill>
              <a:ln w="9525">
                <a:solidFill>
                  <a:srgbClr val="E5DCCF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377087" y="579120"/>
                <a:ext cx="581825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B49450"/>
                    </a:solidFill>
                    <a:latin typeface="Georgia"/>
                    <a:ea typeface="SimSun"/>
                    <a:cs typeface="Georgia"/>
                  </a:rPr>
                  <a:t>5</a:t>
                </a:r>
                <a:r>
                  <a:rPr lang="zh-CN" sz="1350" b="1" dirty="0">
                    <a:solidFill>
                      <a:srgbClr val="B49450"/>
                    </a:solidFill>
                    <a:latin typeface="Georgia"/>
                    <a:ea typeface="SimSun"/>
                    <a:cs typeface="Georgia"/>
                  </a:rPr>
                  <a:t>章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426494" y="977741"/>
                <a:ext cx="48301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8C8478"/>
                    </a:solidFill>
                    <a:latin typeface="Arial"/>
                    <a:ea typeface="Microsoft YaHei"/>
                    <a:cs typeface="Arial"/>
                  </a:rPr>
                  <a:t>全面展示</a:t>
                </a:r>
              </a:p>
            </p:txBody>
          </p:sp>
        </p:grpSp>
      </p:grpSp>
      <p:sp>
        <p:nvSpPr>
          <p:cNvPr id="11" name="Line 11"/>
          <p:cNvSpPr/>
          <p:nvPr/>
        </p:nvSpPr>
        <p:spPr>
          <a:xfrm>
            <a:off x="762000" y="1524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E5DCCF"/>
            </a:solidFill>
          </a:ln>
        </p:spPr>
      </p:sp>
      <p:sp>
        <p:nvSpPr>
          <p:cNvPr id="12" name="Line 12"/>
          <p:cNvSpPr/>
          <p:nvPr/>
        </p:nvSpPr>
        <p:spPr>
          <a:xfrm>
            <a:off x="1238250" y="1809750"/>
            <a:ext cx="9525" cy="4286250"/>
          </a:xfrm>
          <a:custGeom>
            <a:avLst/>
            <a:gdLst/>
            <a:ahLst/>
            <a:cxnLst/>
            <a:rect l="l" t="t" r="r" b="b"/>
            <a:pathLst>
              <a:path w="952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28575" cap="rnd">
            <a:gradFill>
              <a:gsLst>
                <a:gs pos="0">
                  <a:srgbClr val="B49450"/>
                </a:gs>
                <a:gs pos="100000">
                  <a:srgbClr val="8B3A4A"/>
                </a:gs>
              </a:gsLst>
              <a:lin ang="5400000" scaled="1"/>
            </a:gradFill>
          </a:ln>
        </p:spPr>
      </p:sp>
      <p:grpSp>
        <p:nvGrpSpPr>
          <p:cNvPr id="24" name="Group 24"/>
          <p:cNvGrpSpPr/>
          <p:nvPr/>
        </p:nvGrpSpPr>
        <p:grpSpPr>
          <a:xfrm>
            <a:off x="1009650" y="1695450"/>
            <a:ext cx="10134600" cy="511969"/>
            <a:chOff x="1009650" y="1695450"/>
            <a:chExt cx="10134600" cy="511969"/>
          </a:xfrm>
        </p:grpSpPr>
        <p:sp>
          <p:nvSpPr>
            <p:cNvPr id="13" name="Ellipse 13"/>
            <p:cNvSpPr/>
            <p:nvPr/>
          </p:nvSpPr>
          <p:spPr>
            <a:xfrm>
              <a:off x="1009650" y="1695450"/>
              <a:ext cx="457200" cy="457200"/>
            </a:xfrm>
            <a:prstGeom prst="ellipse">
              <a:avLst/>
            </a:prstGeom>
            <a:solidFill>
              <a:srgbClr val="FFFDF9"/>
            </a:solidFill>
            <a:ln w="28575">
              <a:solidFill>
                <a:srgbClr val="B4945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7327" y="18788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B49450"/>
                  </a:solidFill>
                  <a:latin typeface="Georgia"/>
                  <a:ea typeface="SimSun"/>
                  <a:cs typeface="Georgia"/>
                </a:rPr>
                <a:t>01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764705" y="1751012"/>
              <a:ext cx="117400" cy="175419"/>
              <a:chOff x="1764705" y="1751012"/>
              <a:chExt cx="117400" cy="17541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775619" y="1777206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764705" y="1751012"/>
                <a:ext cx="117400" cy="135506"/>
              </a:xfrm>
              <a:custGeom>
                <a:avLst/>
                <a:gdLst/>
                <a:ahLst/>
                <a:cxnLst/>
                <a:rect l="l" t="t" r="r" b="b"/>
                <a:pathLst>
                  <a:path w="117400" h="135506">
                    <a:moveTo>
                      <a:pt x="0" y="113506"/>
                    </a:moveTo>
                    <a:cubicBezTo>
                      <a:pt x="20099" y="130964"/>
                      <a:pt x="48362" y="135506"/>
                      <a:pt x="72918" y="125224"/>
                    </a:cubicBezTo>
                    <a:cubicBezTo>
                      <a:pt x="97474" y="114943"/>
                      <a:pt x="114070" y="91619"/>
                      <a:pt x="115735" y="65049"/>
                    </a:cubicBezTo>
                    <a:cubicBezTo>
                      <a:pt x="117400" y="38479"/>
                      <a:pt x="103845" y="13266"/>
                      <a:pt x="80764" y="0"/>
                    </a:cubicBez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810544" y="188198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775619" y="1916906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2019300" y="1704975"/>
              <a:ext cx="16027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一、学生 Web 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25968" y="2009299"/>
              <a:ext cx="38927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首页浏览 · 搜索筛选 · 书籍购买 · 卖书求购 · 订单管理 · 个人中心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096500" y="17335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DFAF4"/>
            </a:solidFill>
            <a:ln w="9525">
              <a:solidFill>
                <a:srgbClr val="E5DCC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75913" y="1837849"/>
              <a:ext cx="4889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B49450"/>
                  </a:solidFill>
                  <a:latin typeface="Arial"/>
                  <a:ea typeface="Microsoft YaHei"/>
                  <a:cs typeface="Arial"/>
                </a:rPr>
                <a:t>12 页面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9650" y="2647950"/>
            <a:ext cx="10134600" cy="511969"/>
            <a:chOff x="1009650" y="2647950"/>
            <a:chExt cx="10134600" cy="511969"/>
          </a:xfrm>
        </p:grpSpPr>
        <p:sp>
          <p:nvSpPr>
            <p:cNvPr id="25" name="Ellipse 25"/>
            <p:cNvSpPr/>
            <p:nvPr/>
          </p:nvSpPr>
          <p:spPr>
            <a:xfrm>
              <a:off x="1009650" y="2647950"/>
              <a:ext cx="457200" cy="457200"/>
            </a:xfrm>
            <a:prstGeom prst="ellipse">
              <a:avLst/>
            </a:prstGeom>
            <a:solidFill>
              <a:srgbClr val="FFFDF9"/>
            </a:solidFill>
            <a:ln w="28575">
              <a:solidFill>
                <a:srgbClr val="6B2737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37327" y="28313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6B2737"/>
                  </a:solidFill>
                  <a:latin typeface="Georgia"/>
                  <a:ea typeface="SimSun"/>
                  <a:cs typeface="Georgia"/>
                </a:rPr>
                <a:t>02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1736861" y="2708411"/>
              <a:ext cx="164829" cy="164829"/>
              <a:chOff x="1736861" y="2708411"/>
              <a:chExt cx="164829" cy="16482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736861" y="2708411"/>
                <a:ext cx="164829" cy="164829"/>
              </a:xfrm>
              <a:custGeom>
                <a:avLst/>
                <a:gdLst/>
                <a:ahLst/>
                <a:cxnLst/>
                <a:rect l="l" t="t" r="r" b="b"/>
                <a:pathLst>
                  <a:path w="164829" h="164829">
                    <a:moveTo>
                      <a:pt x="67789" y="15332"/>
                    </a:moveTo>
                    <a:cubicBezTo>
                      <a:pt x="71509" y="0"/>
                      <a:pt x="93320" y="0"/>
                      <a:pt x="97039" y="15332"/>
                    </a:cubicBezTo>
                    <a:cubicBezTo>
                      <a:pt x="98171" y="20004"/>
                      <a:pt x="101466" y="23854"/>
                      <a:pt x="105907" y="25694"/>
                    </a:cubicBezTo>
                    <a:cubicBezTo>
                      <a:pt x="110348" y="27534"/>
                      <a:pt x="115400" y="27142"/>
                      <a:pt x="119505" y="24640"/>
                    </a:cubicBezTo>
                    <a:cubicBezTo>
                      <a:pt x="132977" y="16432"/>
                      <a:pt x="148405" y="31852"/>
                      <a:pt x="140198" y="45333"/>
                    </a:cubicBezTo>
                    <a:cubicBezTo>
                      <a:pt x="137699" y="49435"/>
                      <a:pt x="137308" y="54484"/>
                      <a:pt x="139146" y="58922"/>
                    </a:cubicBezTo>
                    <a:cubicBezTo>
                      <a:pt x="140984" y="63360"/>
                      <a:pt x="144829" y="66654"/>
                      <a:pt x="149496" y="67789"/>
                    </a:cubicBezTo>
                    <a:cubicBezTo>
                      <a:pt x="164829" y="71509"/>
                      <a:pt x="164829" y="93320"/>
                      <a:pt x="149496" y="97039"/>
                    </a:cubicBezTo>
                    <a:cubicBezTo>
                      <a:pt x="144825" y="98171"/>
                      <a:pt x="140975" y="101466"/>
                      <a:pt x="139135" y="105907"/>
                    </a:cubicBezTo>
                    <a:cubicBezTo>
                      <a:pt x="137295" y="110348"/>
                      <a:pt x="137687" y="115400"/>
                      <a:pt x="140189" y="119505"/>
                    </a:cubicBezTo>
                    <a:cubicBezTo>
                      <a:pt x="148396" y="132977"/>
                      <a:pt x="132977" y="148405"/>
                      <a:pt x="119496" y="140198"/>
                    </a:cubicBezTo>
                    <a:cubicBezTo>
                      <a:pt x="115393" y="137699"/>
                      <a:pt x="110345" y="137308"/>
                      <a:pt x="105907" y="139146"/>
                    </a:cubicBezTo>
                    <a:cubicBezTo>
                      <a:pt x="101469" y="140984"/>
                      <a:pt x="98174" y="144829"/>
                      <a:pt x="97039" y="149496"/>
                    </a:cubicBezTo>
                    <a:cubicBezTo>
                      <a:pt x="93320" y="164829"/>
                      <a:pt x="71509" y="164829"/>
                      <a:pt x="67789" y="149496"/>
                    </a:cubicBezTo>
                    <a:cubicBezTo>
                      <a:pt x="66657" y="144825"/>
                      <a:pt x="63362" y="140975"/>
                      <a:pt x="58922" y="139135"/>
                    </a:cubicBezTo>
                    <a:cubicBezTo>
                      <a:pt x="54481" y="137295"/>
                      <a:pt x="49428" y="137687"/>
                      <a:pt x="45324" y="140189"/>
                    </a:cubicBezTo>
                    <a:cubicBezTo>
                      <a:pt x="31852" y="148396"/>
                      <a:pt x="16423" y="132977"/>
                      <a:pt x="24631" y="119496"/>
                    </a:cubicBezTo>
                    <a:cubicBezTo>
                      <a:pt x="27130" y="115393"/>
                      <a:pt x="27520" y="110345"/>
                      <a:pt x="25683" y="105907"/>
                    </a:cubicBezTo>
                    <a:cubicBezTo>
                      <a:pt x="23845" y="101469"/>
                      <a:pt x="20000" y="98174"/>
                      <a:pt x="15332" y="97039"/>
                    </a:cubicBezTo>
                    <a:cubicBezTo>
                      <a:pt x="0" y="93320"/>
                      <a:pt x="0" y="71509"/>
                      <a:pt x="15332" y="67789"/>
                    </a:cubicBezTo>
                    <a:cubicBezTo>
                      <a:pt x="20004" y="66657"/>
                      <a:pt x="23854" y="63362"/>
                      <a:pt x="25694" y="58922"/>
                    </a:cubicBezTo>
                    <a:cubicBezTo>
                      <a:pt x="27534" y="54481"/>
                      <a:pt x="27142" y="49428"/>
                      <a:pt x="24640" y="45324"/>
                    </a:cubicBezTo>
                    <a:cubicBezTo>
                      <a:pt x="16432" y="31852"/>
                      <a:pt x="31852" y="16423"/>
                      <a:pt x="45333" y="24631"/>
                    </a:cubicBezTo>
                    <a:cubicBezTo>
                      <a:pt x="54064" y="29939"/>
                      <a:pt x="65380" y="25242"/>
                      <a:pt x="67789" y="15332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793081" y="2764631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26194"/>
                    </a:moveTo>
                    <a:cubicBezTo>
                      <a:pt x="0" y="40660"/>
                      <a:pt x="11727" y="52388"/>
                      <a:pt x="26194" y="52388"/>
                    </a:cubicBezTo>
                    <a:cubicBezTo>
                      <a:pt x="40660" y="52388"/>
                      <a:pt x="52388" y="40660"/>
                      <a:pt x="52388" y="26194"/>
                    </a:cubicBezTo>
                    <a:cubicBezTo>
                      <a:pt x="52388" y="11727"/>
                      <a:pt x="40660" y="0"/>
                      <a:pt x="26194" y="0"/>
                    </a:cubicBezTo>
                    <a:cubicBezTo>
                      <a:pt x="11727" y="0"/>
                      <a:pt x="0" y="11727"/>
                      <a:pt x="0" y="26194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2019300" y="26574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二、管理后台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25968" y="2961799"/>
              <a:ext cx="33141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7 大模块 · 书籍审核上架 · 订单用户管理 · 院校分类同步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096500" y="26860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DFAF4"/>
            </a:solidFill>
            <a:ln w="9525">
              <a:solidFill>
                <a:srgbClr val="E5DCC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413456" y="2790349"/>
              <a:ext cx="413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2737"/>
                  </a:solidFill>
                  <a:latin typeface="Arial"/>
                  <a:ea typeface="Microsoft YaHei"/>
                  <a:cs typeface="Arial"/>
                </a:rPr>
                <a:t>7 模块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09650" y="3600450"/>
            <a:ext cx="10134600" cy="511969"/>
            <a:chOff x="1009650" y="3600450"/>
            <a:chExt cx="10134600" cy="511969"/>
          </a:xfrm>
        </p:grpSpPr>
        <p:sp>
          <p:nvSpPr>
            <p:cNvPr id="35" name="Ellipse 35"/>
            <p:cNvSpPr/>
            <p:nvPr/>
          </p:nvSpPr>
          <p:spPr>
            <a:xfrm>
              <a:off x="1009650" y="3600450"/>
              <a:ext cx="457200" cy="457200"/>
            </a:xfrm>
            <a:prstGeom prst="ellipse">
              <a:avLst/>
            </a:prstGeom>
            <a:solidFill>
              <a:srgbClr val="FFFDF9"/>
            </a:solidFill>
            <a:ln w="28575">
              <a:solidFill>
                <a:srgbClr val="5B7FB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37327" y="37838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B7FBD"/>
                  </a:solidFill>
                  <a:latin typeface="Georgia"/>
                  <a:ea typeface="SimSun"/>
                  <a:cs typeface="Georgia"/>
                </a:rPr>
                <a:t>03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740694" y="3673475"/>
              <a:ext cx="157162" cy="139700"/>
              <a:chOff x="1740694" y="3673475"/>
              <a:chExt cx="157162" cy="1397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740694" y="3708400"/>
                <a:ext cx="349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69850">
                    <a:moveTo>
                      <a:pt x="34925" y="0"/>
                    </a:moveTo>
                    <a:lnTo>
                      <a:pt x="0" y="34925"/>
                    </a:lnTo>
                    <a:lnTo>
                      <a:pt x="34925" y="69850"/>
                    </a:lnTo>
                  </a:path>
                </a:pathLst>
              </a:custGeom>
              <a:noFill/>
              <a:ln w="19050">
                <a:solidFill>
                  <a:srgbClr val="5B7FBD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862931" y="3708400"/>
                <a:ext cx="349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69850">
                    <a:moveTo>
                      <a:pt x="0" y="0"/>
                    </a:moveTo>
                    <a:lnTo>
                      <a:pt x="34925" y="34925"/>
                    </a:lnTo>
                    <a:lnTo>
                      <a:pt x="0" y="69850"/>
                    </a:lnTo>
                  </a:path>
                </a:pathLst>
              </a:custGeom>
              <a:noFill/>
              <a:ln w="19050">
                <a:solidFill>
                  <a:srgbClr val="5B7FBD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801812" y="3673475"/>
                <a:ext cx="3492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139700">
                    <a:moveTo>
                      <a:pt x="34925" y="0"/>
                    </a:moveTo>
                    <a:lnTo>
                      <a:pt x="0" y="139700"/>
                    </a:lnTo>
                  </a:path>
                </a:pathLst>
              </a:custGeom>
              <a:noFill/>
              <a:ln w="19050">
                <a:solidFill>
                  <a:srgbClr val="5B7FBD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2019300" y="360997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三、技术架构与实现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025968" y="3914299"/>
              <a:ext cx="32036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Laravel + Blade + uni-app 全栈技术栈 · 三栏架构详解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096500" y="36385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DFAF4"/>
            </a:solidFill>
            <a:ln w="9525">
              <a:solidFill>
                <a:srgbClr val="E5DCC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345197" y="3742849"/>
              <a:ext cx="5503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B7FBD"/>
                  </a:solidFill>
                  <a:latin typeface="Arial"/>
                  <a:ea typeface="Microsoft YaHei"/>
                  <a:cs typeface="Arial"/>
                </a:rPr>
                <a:t>3 层架构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09650" y="4552950"/>
            <a:ext cx="10134600" cy="511969"/>
            <a:chOff x="1009650" y="4552950"/>
            <a:chExt cx="10134600" cy="511969"/>
          </a:xfrm>
        </p:grpSpPr>
        <p:sp>
          <p:nvSpPr>
            <p:cNvPr id="46" name="Ellipse 46"/>
            <p:cNvSpPr/>
            <p:nvPr/>
          </p:nvSpPr>
          <p:spPr>
            <a:xfrm>
              <a:off x="1009650" y="4552950"/>
              <a:ext cx="457200" cy="457200"/>
            </a:xfrm>
            <a:prstGeom prst="ellipse">
              <a:avLst/>
            </a:prstGeom>
            <a:solidFill>
              <a:srgbClr val="FFFDF9"/>
            </a:solidFill>
            <a:ln w="28575">
              <a:solidFill>
                <a:srgbClr val="6B2737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37327" y="47363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6B2737"/>
                  </a:solidFill>
                  <a:latin typeface="Georgia"/>
                  <a:ea typeface="SimSun"/>
                  <a:cs typeface="Georgia"/>
                </a:rPr>
                <a:t>04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740694" y="4634706"/>
              <a:ext cx="157162" cy="130970"/>
              <a:chOff x="1740694" y="4634706"/>
              <a:chExt cx="157162" cy="13097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1793081" y="4634706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34925"/>
                    </a:moveTo>
                    <a:lnTo>
                      <a:pt x="0" y="26194"/>
                    </a:lnTo>
                    <a:cubicBezTo>
                      <a:pt x="0" y="11727"/>
                      <a:pt x="11727" y="0"/>
                      <a:pt x="26194" y="0"/>
                    </a:cubicBezTo>
                    <a:cubicBezTo>
                      <a:pt x="40660" y="0"/>
                      <a:pt x="52388" y="11727"/>
                      <a:pt x="52388" y="26194"/>
                    </a:cubicBezTo>
                    <a:lnTo>
                      <a:pt x="52388" y="34925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775619" y="4669631"/>
                <a:ext cx="87313" cy="96044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96044">
                    <a:moveTo>
                      <a:pt x="8731" y="0"/>
                    </a:moveTo>
                    <a:lnTo>
                      <a:pt x="78581" y="0"/>
                    </a:lnTo>
                    <a:cubicBezTo>
                      <a:pt x="83782" y="7793"/>
                      <a:pt x="86797" y="16839"/>
                      <a:pt x="87313" y="26194"/>
                    </a:cubicBezTo>
                    <a:lnTo>
                      <a:pt x="87313" y="52388"/>
                    </a:lnTo>
                    <a:cubicBezTo>
                      <a:pt x="87313" y="76498"/>
                      <a:pt x="67767" y="96044"/>
                      <a:pt x="43656" y="96044"/>
                    </a:cubicBezTo>
                    <a:cubicBezTo>
                      <a:pt x="19546" y="96044"/>
                      <a:pt x="0" y="76498"/>
                      <a:pt x="0" y="52388"/>
                    </a:cubicBezTo>
                    <a:lnTo>
                      <a:pt x="0" y="26194"/>
                    </a:lnTo>
                    <a:cubicBezTo>
                      <a:pt x="516" y="16839"/>
                      <a:pt x="3531" y="7793"/>
                      <a:pt x="8731" y="0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740694" y="470455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862931" y="470455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819275" y="4713288"/>
                <a:ext cx="9525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2388">
                    <a:moveTo>
                      <a:pt x="0" y="5238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749425" y="4739481"/>
                <a:ext cx="29250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3">
                    <a:moveTo>
                      <a:pt x="0" y="17463"/>
                    </a:moveTo>
                    <a:lnTo>
                      <a:pt x="29250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859875" y="4739481"/>
                <a:ext cx="29250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3">
                    <a:moveTo>
                      <a:pt x="29250" y="17463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749425" y="465216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0" y="0"/>
                    </a:moveTo>
                    <a:lnTo>
                      <a:pt x="32742" y="20955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856383" y="465216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32742" y="0"/>
                    </a:moveTo>
                    <a:lnTo>
                      <a:pt x="0" y="20955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2019300" y="4562475"/>
              <a:ext cx="23483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四、开发关键问题与解决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025968" y="4866799"/>
              <a:ext cx="33141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8 个典型技术难点 · 根因分析 + 解决方案 · 实战经验总结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096500" y="45910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DFAF4"/>
            </a:solidFill>
            <a:ln w="9525">
              <a:solidFill>
                <a:srgbClr val="E5DCCF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345197" y="4695349"/>
              <a:ext cx="5503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2737"/>
                  </a:solidFill>
                  <a:latin typeface="Arial"/>
                  <a:ea typeface="Microsoft YaHei"/>
                  <a:cs typeface="Arial"/>
                </a:rPr>
                <a:t>8 个问题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009650" y="5505450"/>
            <a:ext cx="10134600" cy="511969"/>
            <a:chOff x="1009650" y="5505450"/>
            <a:chExt cx="10134600" cy="511969"/>
          </a:xfrm>
        </p:grpSpPr>
        <p:sp>
          <p:nvSpPr>
            <p:cNvPr id="63" name="Ellipse 63"/>
            <p:cNvSpPr/>
            <p:nvPr/>
          </p:nvSpPr>
          <p:spPr>
            <a:xfrm>
              <a:off x="1009650" y="5505450"/>
              <a:ext cx="457200" cy="457200"/>
            </a:xfrm>
            <a:prstGeom prst="ellipse">
              <a:avLst/>
            </a:prstGeom>
            <a:solidFill>
              <a:srgbClr val="FFFDF9"/>
            </a:solidFill>
            <a:ln w="28575">
              <a:solidFill>
                <a:srgbClr val="4A6741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137327" y="56888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4A6741"/>
                  </a:solidFill>
                  <a:latin typeface="Georgia"/>
                  <a:ea typeface="SimSun"/>
                  <a:cs typeface="Georgia"/>
                </a:rPr>
                <a:t>05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1746667" y="5578475"/>
              <a:ext cx="142458" cy="142458"/>
              <a:chOff x="1746667" y="5578475"/>
              <a:chExt cx="142458" cy="142458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1749425" y="5578475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78581"/>
                    </a:moveTo>
                    <a:cubicBezTo>
                      <a:pt x="32045" y="82390"/>
                      <a:pt x="57310" y="107655"/>
                      <a:pt x="61119" y="139700"/>
                    </a:cubicBezTo>
                    <a:cubicBezTo>
                      <a:pt x="76809" y="130654"/>
                      <a:pt x="86715" y="114145"/>
                      <a:pt x="87313" y="96044"/>
                    </a:cubicBezTo>
                    <a:cubicBezTo>
                      <a:pt x="117294" y="85497"/>
                      <a:pt x="137970" y="57929"/>
                      <a:pt x="139700" y="26194"/>
                    </a:cubicBezTo>
                    <a:cubicBezTo>
                      <a:pt x="139700" y="11727"/>
                      <a:pt x="127973" y="0"/>
                      <a:pt x="113506" y="0"/>
                    </a:cubicBezTo>
                    <a:cubicBezTo>
                      <a:pt x="81771" y="1730"/>
                      <a:pt x="54203" y="22406"/>
                      <a:pt x="43656" y="52388"/>
                    </a:cubicBezTo>
                    <a:cubicBezTo>
                      <a:pt x="25555" y="52985"/>
                      <a:pt x="9046" y="62891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4A674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1746667" y="5665788"/>
                <a:ext cx="55145" cy="55145"/>
              </a:xfrm>
              <a:custGeom>
                <a:avLst/>
                <a:gdLst/>
                <a:ahLst/>
                <a:cxnLst/>
                <a:rect l="l" t="t" r="r" b="b"/>
                <a:pathLst>
                  <a:path w="55145" h="55145">
                    <a:moveTo>
                      <a:pt x="28952" y="0"/>
                    </a:moveTo>
                    <a:cubicBezTo>
                      <a:pt x="10362" y="10495"/>
                      <a:pt x="0" y="31219"/>
                      <a:pt x="2758" y="52388"/>
                    </a:cubicBezTo>
                    <a:cubicBezTo>
                      <a:pt x="23926" y="55145"/>
                      <a:pt x="44651" y="44783"/>
                      <a:pt x="55145" y="26194"/>
                    </a:cubicBezTo>
                  </a:path>
                </a:pathLst>
              </a:custGeom>
              <a:noFill/>
              <a:ln w="19050">
                <a:solidFill>
                  <a:srgbClr val="4A674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836738" y="5613400"/>
                <a:ext cx="17462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17462">
                    <a:moveTo>
                      <a:pt x="0" y="8731"/>
                    </a:moveTo>
                    <a:cubicBezTo>
                      <a:pt x="0" y="13553"/>
                      <a:pt x="3909" y="17462"/>
                      <a:pt x="8731" y="17462"/>
                    </a:cubicBezTo>
                    <a:cubicBezTo>
                      <a:pt x="13553" y="17462"/>
                      <a:pt x="17462" y="13553"/>
                      <a:pt x="17462" y="8731"/>
                    </a:cubicBezTo>
                    <a:cubicBezTo>
                      <a:pt x="17462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9050">
                <a:solidFill>
                  <a:srgbClr val="4A6741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2019300" y="551497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五、下一步优化计划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025968" y="5819299"/>
              <a:ext cx="32231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技术升级 · 支付集成 · 搜索推荐 · 体验优化 · 质量保障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096500" y="55435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DFAF4"/>
            </a:solidFill>
            <a:ln w="9525">
              <a:solidFill>
                <a:srgbClr val="E5DCCF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413456" y="5647849"/>
              <a:ext cx="413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6741"/>
                  </a:solidFill>
                  <a:latin typeface="Arial"/>
                  <a:ea typeface="Microsoft YaHei"/>
                  <a:cs typeface="Arial"/>
                </a:rPr>
                <a:t>5 方向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750570" y="6522720"/>
            <a:ext cx="26691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校园二手书交易平台 · 产品功能展示 · 2026年6月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64795"/>
            <a:ext cx="2906173" cy="597217"/>
            <a:chOff x="571500" y="264795"/>
            <a:chExt cx="2906173" cy="597217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457200"/>
            </a:xfrm>
            <a:prstGeom prst="roundRect">
              <a:avLst>
                <a:gd name="adj" fmla="val 50000"/>
              </a:avLst>
            </a:prstGeom>
            <a:solidFill>
              <a:srgbClr val="B4945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1520" y="264795"/>
              <a:ext cx="14051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首页浏览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48652"/>
              <a:ext cx="27290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学院筛选 + 搜索 + 排序，精准找到所需教材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238250"/>
            <a:ext cx="4953000" cy="3419475"/>
            <a:chOff x="571500" y="1238250"/>
            <a:chExt cx="4953000" cy="3419475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4953000" cy="3143250"/>
            </a:xfrm>
            <a:prstGeom prst="roundRect">
              <a:avLst>
                <a:gd name="adj" fmla="val 4242"/>
              </a:avLst>
            </a:prstGeom>
            <a:solidFill>
              <a:srgbClr val="E5DCCF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238250"/>
              <a:ext cx="4953000" cy="3143250"/>
            </a:xfrm>
            <a:prstGeom prst="roundRect">
              <a:avLst>
                <a:gd name="adj" fmla="val 4242"/>
              </a:avLst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2676525" y="447484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图：首页界面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0" y="1238250"/>
            <a:ext cx="5524500" cy="952500"/>
            <a:chOff x="6096000" y="1238250"/>
            <a:chExt cx="5524500" cy="952500"/>
          </a:xfrm>
        </p:grpSpPr>
        <p:sp>
          <p:nvSpPr>
            <p:cNvPr id="11" name="Rectangle 11"/>
            <p:cNvSpPr/>
            <p:nvPr/>
          </p:nvSpPr>
          <p:spPr>
            <a:xfrm>
              <a:off x="6096000" y="1238250"/>
              <a:ext cx="5524500" cy="952500"/>
            </a:xfrm>
            <a:prstGeom prst="roundRect">
              <a:avLst>
                <a:gd name="adj" fmla="val 14000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0" y="1238250"/>
              <a:ext cx="5524500" cy="381000"/>
            </a:xfrm>
            <a:prstGeom prst="roundRect">
              <a:avLst>
                <a:gd name="adj" fmla="val 35000"/>
              </a:avLst>
            </a:prstGeom>
            <a:solidFill>
              <a:srgbClr val="2C241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0" y="1485900"/>
              <a:ext cx="5524500" cy="133350"/>
            </a:xfrm>
            <a:prstGeom prst="rect">
              <a:avLst/>
            </a:prstGeom>
            <a:solidFill>
              <a:srgbClr val="2C2416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6318250" y="1346200"/>
              <a:ext cx="127000" cy="127000"/>
              <a:chOff x="6318250" y="1346200"/>
              <a:chExt cx="127000" cy="127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6318250" y="13462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47625" y="0"/>
                    </a:lnTo>
                    <a:lnTo>
                      <a:pt x="47625" y="47625"/>
                    </a:lnTo>
                    <a:lnTo>
                      <a:pt x="0" y="4762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397625" y="13462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47625" y="0"/>
                    </a:lnTo>
                    <a:lnTo>
                      <a:pt x="47625" y="47625"/>
                    </a:lnTo>
                    <a:lnTo>
                      <a:pt x="0" y="4762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318250" y="14255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47625" y="0"/>
                    </a:lnTo>
                    <a:lnTo>
                      <a:pt x="47625" y="47625"/>
                    </a:lnTo>
                    <a:lnTo>
                      <a:pt x="0" y="4762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397625" y="14255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6558915" y="13630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9450"/>
                  </a:solidFill>
                  <a:latin typeface="Arial"/>
                  <a:ea typeface="Microsoft YaHei"/>
                  <a:cs typeface="Arial"/>
                </a:rPr>
                <a:t>学院筛选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73165" y="1744028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七个学院下拉框，选择后自动筛选该学院的教材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0" y="2381250"/>
            <a:ext cx="5524500" cy="952500"/>
            <a:chOff x="6096000" y="2381250"/>
            <a:chExt cx="5524500" cy="952500"/>
          </a:xfrm>
        </p:grpSpPr>
        <p:sp>
          <p:nvSpPr>
            <p:cNvPr id="22" name="Rectangle 22"/>
            <p:cNvSpPr/>
            <p:nvPr/>
          </p:nvSpPr>
          <p:spPr>
            <a:xfrm>
              <a:off x="6096000" y="2381250"/>
              <a:ext cx="5524500" cy="952500"/>
            </a:xfrm>
            <a:prstGeom prst="roundRect">
              <a:avLst>
                <a:gd name="adj" fmla="val 14000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0" y="2381250"/>
              <a:ext cx="5524500" cy="381000"/>
            </a:xfrm>
            <a:prstGeom prst="roundRect">
              <a:avLst>
                <a:gd name="adj" fmla="val 35000"/>
              </a:avLst>
            </a:prstGeom>
            <a:solidFill>
              <a:srgbClr val="2C241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0" y="2628900"/>
              <a:ext cx="5524500" cy="133350"/>
            </a:xfrm>
            <a:prstGeom prst="rect">
              <a:avLst/>
            </a:prstGeom>
            <a:solidFill>
              <a:srgbClr val="2C2416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310312" y="2481262"/>
              <a:ext cx="142875" cy="142875"/>
              <a:chOff x="6310312" y="2481262"/>
              <a:chExt cx="142875" cy="14287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310312" y="2481262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2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2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2"/>
                    </a:cubicBez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405562" y="25765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476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558915" y="2506028"/>
              <a:ext cx="9822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9450"/>
                  </a:solidFill>
                  <a:latin typeface="Arial"/>
                  <a:ea typeface="Microsoft YaHei"/>
                  <a:cs typeface="Arial"/>
                </a:rPr>
                <a:t>AJAX 智能搜索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73165" y="2887028"/>
              <a:ext cx="32610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输入书名/作者/出版社关键词，无刷新实时加载结果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0" y="3524250"/>
            <a:ext cx="5524500" cy="952500"/>
            <a:chOff x="6096000" y="3524250"/>
            <a:chExt cx="5524500" cy="952500"/>
          </a:xfrm>
        </p:grpSpPr>
        <p:sp>
          <p:nvSpPr>
            <p:cNvPr id="31" name="Rectangle 31"/>
            <p:cNvSpPr/>
            <p:nvPr/>
          </p:nvSpPr>
          <p:spPr>
            <a:xfrm>
              <a:off x="6096000" y="3524250"/>
              <a:ext cx="5524500" cy="952500"/>
            </a:xfrm>
            <a:prstGeom prst="roundRect">
              <a:avLst>
                <a:gd name="adj" fmla="val 14000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96000" y="3524250"/>
              <a:ext cx="5524500" cy="381000"/>
            </a:xfrm>
            <a:prstGeom prst="roundRect">
              <a:avLst>
                <a:gd name="adj" fmla="val 35000"/>
              </a:avLst>
            </a:prstGeom>
            <a:solidFill>
              <a:srgbClr val="2C241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96000" y="3771900"/>
              <a:ext cx="5524500" cy="133350"/>
            </a:xfrm>
            <a:prstGeom prst="rect">
              <a:avLst/>
            </a:prstGeom>
            <a:solidFill>
              <a:srgbClr val="2C2416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310312" y="3632200"/>
              <a:ext cx="142875" cy="136525"/>
              <a:chOff x="6310312" y="3632200"/>
              <a:chExt cx="142875" cy="1365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310312" y="3695700"/>
                <a:ext cx="476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63500">
                    <a:moveTo>
                      <a:pt x="0" y="7937"/>
                    </a:moveTo>
                    <a:cubicBezTo>
                      <a:pt x="0" y="3554"/>
                      <a:pt x="3554" y="0"/>
                      <a:pt x="7938" y="0"/>
                    </a:cubicBezTo>
                    <a:lnTo>
                      <a:pt x="39687" y="0"/>
                    </a:lnTo>
                    <a:cubicBezTo>
                      <a:pt x="44071" y="0"/>
                      <a:pt x="47625" y="3554"/>
                      <a:pt x="47625" y="7937"/>
                    </a:cubicBezTo>
                    <a:lnTo>
                      <a:pt x="47625" y="55562"/>
                    </a:lnTo>
                    <a:cubicBezTo>
                      <a:pt x="47625" y="59946"/>
                      <a:pt x="44071" y="63500"/>
                      <a:pt x="39687" y="63500"/>
                    </a:cubicBezTo>
                    <a:lnTo>
                      <a:pt x="7938" y="63500"/>
                    </a:lnTo>
                    <a:cubicBezTo>
                      <a:pt x="3554" y="63500"/>
                      <a:pt x="0" y="59946"/>
                      <a:pt x="0" y="55562"/>
                    </a:cubicBezTo>
                    <a:lnTo>
                      <a:pt x="0" y="7937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405562" y="366395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7937"/>
                    </a:moveTo>
                    <a:cubicBezTo>
                      <a:pt x="0" y="3554"/>
                      <a:pt x="3554" y="0"/>
                      <a:pt x="7938" y="0"/>
                    </a:cubicBezTo>
                    <a:lnTo>
                      <a:pt x="39687" y="0"/>
                    </a:lnTo>
                    <a:cubicBezTo>
                      <a:pt x="44071" y="0"/>
                      <a:pt x="47625" y="3554"/>
                      <a:pt x="47625" y="7937"/>
                    </a:cubicBezTo>
                    <a:lnTo>
                      <a:pt x="47625" y="87312"/>
                    </a:lnTo>
                    <a:cubicBezTo>
                      <a:pt x="47625" y="91696"/>
                      <a:pt x="44071" y="95250"/>
                      <a:pt x="39687" y="95250"/>
                    </a:cubicBezTo>
                    <a:lnTo>
                      <a:pt x="7938" y="95250"/>
                    </a:lnTo>
                    <a:cubicBezTo>
                      <a:pt x="3554" y="95250"/>
                      <a:pt x="0" y="91696"/>
                      <a:pt x="0" y="87312"/>
                    </a:cubicBezTo>
                    <a:lnTo>
                      <a:pt x="0" y="7937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357938" y="3632200"/>
                <a:ext cx="476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27000">
                    <a:moveTo>
                      <a:pt x="0" y="7938"/>
                    </a:moveTo>
                    <a:cubicBezTo>
                      <a:pt x="0" y="3554"/>
                      <a:pt x="3554" y="0"/>
                      <a:pt x="7938" y="0"/>
                    </a:cubicBezTo>
                    <a:lnTo>
                      <a:pt x="39687" y="0"/>
                    </a:lnTo>
                    <a:cubicBezTo>
                      <a:pt x="44071" y="0"/>
                      <a:pt x="47625" y="3554"/>
                      <a:pt x="47625" y="7938"/>
                    </a:cubicBezTo>
                    <a:lnTo>
                      <a:pt x="47625" y="119062"/>
                    </a:lnTo>
                    <a:cubicBezTo>
                      <a:pt x="47625" y="123446"/>
                      <a:pt x="44071" y="127000"/>
                      <a:pt x="39687" y="127000"/>
                    </a:cubicBezTo>
                    <a:lnTo>
                      <a:pt x="7938" y="127000"/>
                    </a:lnTo>
                    <a:cubicBezTo>
                      <a:pt x="3554" y="127000"/>
                      <a:pt x="0" y="123446"/>
                      <a:pt x="0" y="119062"/>
                    </a:cubicBezTo>
                    <a:lnTo>
                      <a:pt x="0" y="7938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318250" y="3759200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558915" y="364902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9450"/>
                  </a:solidFill>
                  <a:latin typeface="Arial"/>
                  <a:ea typeface="Microsoft YaHei"/>
                  <a:cs typeface="Arial"/>
                </a:rPr>
                <a:t>四种排序方式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73165" y="4030028"/>
              <a:ext cx="38071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最新发布、价格升序、价格降序、成色排序，选择即自动排列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25000" y="-952500"/>
            <a:ext cx="3810000" cy="3810000"/>
            <a:chOff x="9525000" y="-952500"/>
            <a:chExt cx="3810000" cy="3810000"/>
          </a:xfrm>
        </p:grpSpPr>
        <p:sp>
          <p:nvSpPr>
            <p:cNvPr id="42" name="Ellipse 42"/>
            <p:cNvSpPr/>
            <p:nvPr/>
          </p:nvSpPr>
          <p:spPr>
            <a:xfrm>
              <a:off x="9525000" y="-952500"/>
              <a:ext cx="3810000" cy="3810000"/>
            </a:xfrm>
            <a:prstGeom prst="ellipse">
              <a:avLst/>
            </a:prstGeom>
            <a:noFill/>
            <a:ln w="9525">
              <a:solidFill>
                <a:srgbClr val="B49450">
                  <a:alpha val="4000"/>
                </a:srgbClr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191750" y="-285750"/>
              <a:ext cx="2476500" cy="2476500"/>
            </a:xfrm>
            <a:prstGeom prst="ellipse">
              <a:avLst/>
            </a:prstGeom>
            <a:noFill/>
            <a:ln w="9525">
              <a:solidFill>
                <a:srgbClr val="B49450">
                  <a:alpha val="6000"/>
                </a:srgbClr>
              </a:solidFill>
            </a:ln>
          </p:spPr>
        </p:sp>
      </p:grpSp>
      <p:sp>
        <p:nvSpPr>
          <p:cNvPr id="45" name="TextBox 45"/>
          <p:cNvSpPr txBox="1"/>
          <p:nvPr/>
        </p:nvSpPr>
        <p:spPr>
          <a:xfrm>
            <a:off x="10444924" y="6570345"/>
            <a:ext cx="1187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一、学生 Web 端 · 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1" grpId="0"/>
      <p:bldP spid="30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64795"/>
            <a:ext cx="3025188" cy="597217"/>
            <a:chOff x="571500" y="264795"/>
            <a:chExt cx="3025188" cy="597217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457200"/>
            </a:xfrm>
            <a:prstGeom prst="roundRect">
              <a:avLst>
                <a:gd name="adj" fmla="val 50000"/>
              </a:avLst>
            </a:prstGeom>
            <a:solidFill>
              <a:srgbClr val="B4945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1520" y="264795"/>
              <a:ext cx="241325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书籍详情与购买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48652"/>
              <a:ext cx="28480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完整书籍信息展示 + 一键下单购买，流程顺畅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238250"/>
            <a:ext cx="4953000" cy="3419475"/>
            <a:chOff x="571500" y="1238250"/>
            <a:chExt cx="4953000" cy="3419475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4953000" cy="3143250"/>
            </a:xfrm>
            <a:prstGeom prst="roundRect">
              <a:avLst>
                <a:gd name="adj" fmla="val 4242"/>
              </a:avLst>
            </a:prstGeom>
            <a:solidFill>
              <a:srgbClr val="E5DCCF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238250"/>
              <a:ext cx="4953000" cy="3143250"/>
            </a:xfrm>
            <a:prstGeom prst="roundRect">
              <a:avLst>
                <a:gd name="adj" fmla="val 4242"/>
              </a:avLst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2556510" y="447484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图：书籍详情页面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0" y="1238250"/>
            <a:ext cx="5524500" cy="1428750"/>
            <a:chOff x="6096000" y="1238250"/>
            <a:chExt cx="5524500" cy="1428750"/>
          </a:xfrm>
        </p:grpSpPr>
        <p:sp>
          <p:nvSpPr>
            <p:cNvPr id="11" name="Rectangle 11"/>
            <p:cNvSpPr/>
            <p:nvPr/>
          </p:nvSpPr>
          <p:spPr>
            <a:xfrm>
              <a:off x="6096000" y="1238250"/>
              <a:ext cx="5524500" cy="1428750"/>
            </a:xfrm>
            <a:prstGeom prst="roundRect">
              <a:avLst>
                <a:gd name="adj" fmla="val 9333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286500" y="1381125"/>
              <a:ext cx="228600" cy="22860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B4945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48096" y="1471612"/>
              <a:ext cx="768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B49450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4160" y="134683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完整信息展示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6065" y="1601152"/>
              <a:ext cx="27920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封面图 + 实拍照片、书名/作者/出版社/ISBN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6065" y="1810702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学院分类、成色标签、售价原价、卖家信息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86500" y="2143125"/>
              <a:ext cx="228600" cy="22860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B4945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48096" y="2233612"/>
              <a:ext cx="768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B49450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14160" y="21088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一键购买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6065" y="2363152"/>
              <a:ext cx="30090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确认页显示书籍信息 + 金额汇总 + 取书地点选择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0" y="2857500"/>
            <a:ext cx="5524500" cy="762000"/>
            <a:chOff x="6096000" y="2857500"/>
            <a:chExt cx="5524500" cy="762000"/>
          </a:xfrm>
        </p:grpSpPr>
        <p:sp>
          <p:nvSpPr>
            <p:cNvPr id="22" name="Rectangle 22"/>
            <p:cNvSpPr/>
            <p:nvPr/>
          </p:nvSpPr>
          <p:spPr>
            <a:xfrm>
              <a:off x="6096000" y="2857500"/>
              <a:ext cx="5524500" cy="762000"/>
            </a:xfrm>
            <a:prstGeom prst="roundRect">
              <a:avLst>
                <a:gd name="adj" fmla="val 17500"/>
              </a:avLst>
            </a:prstGeom>
            <a:solidFill>
              <a:srgbClr val="2C241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57950" y="298132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4BC7C"/>
                  </a:solidFill>
                  <a:latin typeface="Georgia"/>
                  <a:ea typeface="KaiTi"/>
                  <a:cs typeface="Georgia"/>
                </a:rPr>
                <a:t>售价区域含原价对比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3665" y="3296602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平台自营定价模式，学生提交后管理员审核定价</a:t>
              </a:r>
            </a:p>
          </p:txBody>
        </p:sp>
      </p:grpSp>
      <p:sp>
        <p:nvSpPr>
          <p:cNvPr id="26" name="Freeform 26"/>
          <p:cNvSpPr/>
          <p:nvPr/>
        </p:nvSpPr>
        <p:spPr>
          <a:xfrm>
            <a:off x="10048875" y="4143375"/>
            <a:ext cx="666750" cy="857250"/>
          </a:xfrm>
          <a:custGeom>
            <a:avLst/>
            <a:gdLst/>
            <a:ahLst/>
            <a:cxnLst/>
            <a:rect l="l" t="t" r="r" b="b"/>
            <a:pathLst>
              <a:path w="666750" h="857250">
                <a:moveTo>
                  <a:pt x="0" y="857250"/>
                </a:move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lnTo>
                  <a:pt x="571500" y="0"/>
                </a:lnTo>
                <a:cubicBezTo>
                  <a:pt x="624105" y="0"/>
                  <a:pt x="666750" y="42645"/>
                  <a:pt x="666750" y="95250"/>
                </a:cubicBezTo>
                <a:lnTo>
                  <a:pt x="666750" y="857250"/>
                </a:lnTo>
                <a:lnTo>
                  <a:pt x="523875" y="762000"/>
                </a:lnTo>
                <a:lnTo>
                  <a:pt x="428625" y="857250"/>
                </a:lnTo>
                <a:lnTo>
                  <a:pt x="333375" y="762000"/>
                </a:lnTo>
                <a:lnTo>
                  <a:pt x="238125" y="857250"/>
                </a:lnTo>
                <a:lnTo>
                  <a:pt x="142875" y="762000"/>
                </a:lnTo>
                <a:lnTo>
                  <a:pt x="0" y="857250"/>
                </a:lnTo>
                <a:moveTo>
                  <a:pt x="190500" y="190500"/>
                </a:moveTo>
                <a:lnTo>
                  <a:pt x="476250" y="190500"/>
                </a:lnTo>
                <a:moveTo>
                  <a:pt x="190500" y="381000"/>
                </a:moveTo>
                <a:lnTo>
                  <a:pt x="476250" y="381000"/>
                </a:lnTo>
                <a:moveTo>
                  <a:pt x="381000" y="571500"/>
                </a:moveTo>
                <a:lnTo>
                  <a:pt x="476250" y="571500"/>
                </a:lnTo>
              </a:path>
            </a:pathLst>
          </a:custGeom>
          <a:noFill/>
          <a:ln w="19050">
            <a:solidFill>
              <a:srgbClr val="B4945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444924" y="6570345"/>
            <a:ext cx="1187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一、学生 Web 端 · 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1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64795"/>
            <a:ext cx="3627263" cy="597217"/>
            <a:chOff x="571500" y="264795"/>
            <a:chExt cx="3627263" cy="597217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457200"/>
            </a:xfrm>
            <a:prstGeom prst="roundRect">
              <a:avLst>
                <a:gd name="adj" fmla="val 50000"/>
              </a:avLst>
            </a:prstGeom>
            <a:solidFill>
              <a:srgbClr val="B4945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1520" y="264795"/>
              <a:ext cx="241325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学生注册与登录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48652"/>
              <a:ext cx="34500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独立页面设计 · 深蓝渐变 + 琥珀按钮 · 前后台双向互通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238250"/>
            <a:ext cx="5334000" cy="2943225"/>
            <a:chOff x="571500" y="1238250"/>
            <a:chExt cx="5334000" cy="2943225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2667000"/>
            </a:xfrm>
            <a:prstGeom prst="roundRect">
              <a:avLst>
                <a:gd name="adj" fmla="val 5000"/>
              </a:avLst>
            </a:prstGeom>
            <a:solidFill>
              <a:srgbClr val="E5DCCF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238250"/>
              <a:ext cx="5334000" cy="2667000"/>
            </a:xfrm>
            <a:prstGeom prst="roundRect">
              <a:avLst>
                <a:gd name="adj" fmla="val 5000"/>
              </a:avLst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2747010" y="39985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图：学生注册页面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86500" y="1238250"/>
            <a:ext cx="5334000" cy="2943225"/>
            <a:chOff x="6286500" y="1238250"/>
            <a:chExt cx="5334000" cy="2943225"/>
          </a:xfrm>
        </p:grpSpPr>
        <p:sp>
          <p:nvSpPr>
            <p:cNvPr id="11" name="Rectangle 11"/>
            <p:cNvSpPr/>
            <p:nvPr/>
          </p:nvSpPr>
          <p:spPr>
            <a:xfrm>
              <a:off x="6286500" y="1238250"/>
              <a:ext cx="5334000" cy="2667000"/>
            </a:xfrm>
            <a:prstGeom prst="roundRect">
              <a:avLst>
                <a:gd name="adj" fmla="val 5000"/>
              </a:avLst>
            </a:prstGeom>
            <a:solidFill>
              <a:srgbClr val="E5DCCF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500" y="1238250"/>
              <a:ext cx="5334000" cy="2667000"/>
            </a:xfrm>
            <a:prstGeom prst="roundRect">
              <a:avLst>
                <a:gd name="adj" fmla="val 5000"/>
              </a:avLst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8462010" y="39985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图：学生登录页面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4381500"/>
            <a:ext cx="5334000" cy="1047750"/>
            <a:chOff x="571500" y="4381500"/>
            <a:chExt cx="5334000" cy="1047750"/>
          </a:xfrm>
        </p:grpSpPr>
        <p:sp>
          <p:nvSpPr>
            <p:cNvPr id="15" name="Rectangle 15"/>
            <p:cNvSpPr/>
            <p:nvPr/>
          </p:nvSpPr>
          <p:spPr>
            <a:xfrm>
              <a:off x="571500" y="4381500"/>
              <a:ext cx="5334000" cy="1047750"/>
            </a:xfrm>
            <a:prstGeom prst="roundRect">
              <a:avLst>
                <a:gd name="adj" fmla="val 12727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909638" y="4645819"/>
              <a:ext cx="104775" cy="157163"/>
              <a:chOff x="909638" y="4645819"/>
              <a:chExt cx="104775" cy="15716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927100" y="4645819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09638" y="4750594"/>
                <a:ext cx="104775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52388">
                    <a:moveTo>
                      <a:pt x="0" y="52388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69850" y="0"/>
                    </a:lnTo>
                    <a:cubicBezTo>
                      <a:pt x="89139" y="0"/>
                      <a:pt x="104775" y="15636"/>
                      <a:pt x="104775" y="34925"/>
                    </a:cubicBezTo>
                    <a:lnTo>
                      <a:pt x="104775" y="52388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147762" y="4545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注册流程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48715" y="4792028"/>
              <a:ext cx="3604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填写姓名 · 学号 · 手机号 · 密码（8位+大小写字母数字）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8715" y="5001578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提交后自动登录并跳转首页，无需额外验证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86500" y="4381500"/>
            <a:ext cx="5334000" cy="1047750"/>
            <a:chOff x="6286500" y="4381500"/>
            <a:chExt cx="5334000" cy="1047750"/>
          </a:xfrm>
        </p:grpSpPr>
        <p:sp>
          <p:nvSpPr>
            <p:cNvPr id="23" name="Rectangle 23"/>
            <p:cNvSpPr/>
            <p:nvPr/>
          </p:nvSpPr>
          <p:spPr>
            <a:xfrm>
              <a:off x="6286500" y="4381500"/>
              <a:ext cx="5334000" cy="1047750"/>
            </a:xfrm>
            <a:prstGeom prst="roundRect">
              <a:avLst>
                <a:gd name="adj" fmla="val 12727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607175" y="4654550"/>
              <a:ext cx="148431" cy="139700"/>
              <a:chOff x="6607175" y="4654550"/>
              <a:chExt cx="148431" cy="1397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607175" y="4654550"/>
                <a:ext cx="96044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96044" h="139700">
                    <a:moveTo>
                      <a:pt x="96044" y="34925"/>
                    </a:moveTo>
                    <a:lnTo>
                      <a:pt x="96044" y="17462"/>
                    </a:lnTo>
                    <a:cubicBezTo>
                      <a:pt x="96044" y="7818"/>
                      <a:pt x="88226" y="0"/>
                      <a:pt x="78581" y="0"/>
                    </a:cubicBezTo>
                    <a:lnTo>
                      <a:pt x="17463" y="0"/>
                    </a:lnTo>
                    <a:cubicBezTo>
                      <a:pt x="7818" y="0"/>
                      <a:pt x="0" y="7818"/>
                      <a:pt x="0" y="17462"/>
                    </a:cubicBezTo>
                    <a:lnTo>
                      <a:pt x="0" y="122237"/>
                    </a:lnTo>
                    <a:cubicBezTo>
                      <a:pt x="0" y="131882"/>
                      <a:pt x="7818" y="139700"/>
                      <a:pt x="17463" y="139700"/>
                    </a:cubicBezTo>
                    <a:lnTo>
                      <a:pt x="78581" y="139700"/>
                    </a:lnTo>
                    <a:cubicBezTo>
                      <a:pt x="88226" y="139700"/>
                      <a:pt x="96044" y="131882"/>
                      <a:pt x="96044" y="122237"/>
                    </a:cubicBezTo>
                    <a:lnTo>
                      <a:pt x="96044" y="104775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642100" y="4698206"/>
                <a:ext cx="113506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13506" h="26194">
                    <a:moveTo>
                      <a:pt x="113506" y="26194"/>
                    </a:moveTo>
                    <a:lnTo>
                      <a:pt x="0" y="26194"/>
                    </a:lnTo>
                    <a:lnTo>
                      <a:pt x="26194" y="0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642100" y="4724400"/>
                <a:ext cx="26194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26194" h="26194">
                    <a:moveTo>
                      <a:pt x="26194" y="26194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862762" y="454580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登录与互通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63715" y="4792028"/>
              <a:ext cx="24279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手机号 + 密码登录，导航栏显示用户名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63715" y="5001578"/>
              <a:ext cx="39751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底部"管理后台"入口 ← → 管理后台底部"学生登录"入口双向互通</a:t>
              </a:r>
            </a:p>
          </p:txBody>
        </p:sp>
      </p:grpSp>
      <p:sp>
        <p:nvSpPr>
          <p:cNvPr id="32" name="Ellipse 32"/>
          <p:cNvSpPr/>
          <p:nvPr/>
        </p:nvSpPr>
        <p:spPr>
          <a:xfrm>
            <a:off x="4953000" y="-381000"/>
            <a:ext cx="2286000" cy="2286000"/>
          </a:xfrm>
          <a:prstGeom prst="ellipse">
            <a:avLst/>
          </a:prstGeom>
          <a:noFill/>
          <a:ln w="9525">
            <a:solidFill>
              <a:srgbClr val="B49450">
                <a:alpha val="4000"/>
              </a:srgbClr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444924" y="6570345"/>
            <a:ext cx="1187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一、学生 Web 端 ·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2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64795"/>
            <a:ext cx="2465118" cy="597217"/>
            <a:chOff x="571500" y="264795"/>
            <a:chExt cx="2465118" cy="597217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457200"/>
            </a:xfrm>
            <a:prstGeom prst="roundRect">
              <a:avLst>
                <a:gd name="adj" fmla="val 50000"/>
              </a:avLst>
            </a:prstGeom>
            <a:solidFill>
              <a:srgbClr val="B4945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1520" y="264795"/>
              <a:ext cx="17411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卖书与求购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48652"/>
              <a:ext cx="2287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卖书提交 + 求购匹配，供需两端打通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238250"/>
            <a:ext cx="4953000" cy="3419475"/>
            <a:chOff x="571500" y="1238250"/>
            <a:chExt cx="4953000" cy="3419475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4953000" cy="3143250"/>
            </a:xfrm>
            <a:prstGeom prst="roundRect">
              <a:avLst>
                <a:gd name="adj" fmla="val 4242"/>
              </a:avLst>
            </a:prstGeom>
            <a:solidFill>
              <a:srgbClr val="E5DCCF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238250"/>
              <a:ext cx="4953000" cy="3143250"/>
            </a:xfrm>
            <a:prstGeom prst="roundRect">
              <a:avLst>
                <a:gd name="adj" fmla="val 4242"/>
              </a:avLst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2556510" y="447484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图：卖书发布页面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0" y="1238250"/>
            <a:ext cx="5524500" cy="1243012"/>
            <a:chOff x="6096000" y="1238250"/>
            <a:chExt cx="5524500" cy="1243012"/>
          </a:xfrm>
        </p:grpSpPr>
        <p:sp>
          <p:nvSpPr>
            <p:cNvPr id="11" name="Rectangle 11"/>
            <p:cNvSpPr/>
            <p:nvPr/>
          </p:nvSpPr>
          <p:spPr>
            <a:xfrm>
              <a:off x="6096000" y="1238250"/>
              <a:ext cx="5524500" cy="1143000"/>
            </a:xfrm>
            <a:prstGeom prst="roundRect">
              <a:avLst>
                <a:gd name="adj" fmla="val 11667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286500" y="1381125"/>
              <a:ext cx="228600" cy="22860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B4945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48096" y="1471612"/>
              <a:ext cx="768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B49450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4160" y="13468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发布卖书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6065" y="1601152"/>
              <a:ext cx="28760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书名/作者/出版社/学院/成色选择 + 补充说明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6065" y="1810702"/>
              <a:ext cx="35271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上传 2-5 张照片（封面+内页），FormData+fetch 提交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86500" y="2047875"/>
              <a:ext cx="228600" cy="22860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4A674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48096" y="2138362"/>
              <a:ext cx="768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4A6741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14160" y="20135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求购广场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6065" y="2267902"/>
              <a:ext cx="3443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全量列表 + 搜索 + 学院筛选，每条含书名/最高价/成色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0" y="2571750"/>
            <a:ext cx="5524500" cy="762000"/>
            <a:chOff x="6096000" y="2571750"/>
            <a:chExt cx="5524500" cy="762000"/>
          </a:xfrm>
        </p:grpSpPr>
        <p:sp>
          <p:nvSpPr>
            <p:cNvPr id="22" name="Rectangle 22"/>
            <p:cNvSpPr/>
            <p:nvPr/>
          </p:nvSpPr>
          <p:spPr>
            <a:xfrm>
              <a:off x="6096000" y="2571750"/>
              <a:ext cx="5524500" cy="762000"/>
            </a:xfrm>
            <a:prstGeom prst="roundRect">
              <a:avLst>
                <a:gd name="adj" fmla="val 17500"/>
              </a:avLst>
            </a:prstGeom>
            <a:solidFill>
              <a:srgbClr val="4A6741">
                <a:alpha val="6000"/>
              </a:srgbClr>
            </a:solidFill>
            <a:ln w="9525">
              <a:solidFill>
                <a:srgbClr val="4A6741">
                  <a:alpha val="20000"/>
                </a:srgbClr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357938" y="2833688"/>
              <a:ext cx="142875" cy="142875"/>
              <a:chOff x="6357938" y="2833688"/>
              <a:chExt cx="142875" cy="14287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357938" y="2833688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8" y="71438"/>
                    </a:lnTo>
                    <a:moveTo>
                      <a:pt x="71438" y="0"/>
                    </a:moveTo>
                    <a:lnTo>
                      <a:pt x="71438" y="7937"/>
                    </a:lnTo>
                    <a:moveTo>
                      <a:pt x="134937" y="71438"/>
                    </a:moveTo>
                    <a:lnTo>
                      <a:pt x="142875" y="71438"/>
                    </a:lnTo>
                    <a:moveTo>
                      <a:pt x="20637" y="20638"/>
                    </a:moveTo>
                    <a:lnTo>
                      <a:pt x="26194" y="26194"/>
                    </a:lnTo>
                    <a:moveTo>
                      <a:pt x="122238" y="20638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4A674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386322" y="2865438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4A674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411119" y="2944812"/>
                <a:ext cx="365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2" h="9525">
                    <a:moveTo>
                      <a:pt x="0" y="0"/>
                    </a:moveTo>
                    <a:lnTo>
                      <a:pt x="36512" y="0"/>
                    </a:lnTo>
                  </a:path>
                </a:pathLst>
              </a:custGeom>
              <a:noFill/>
              <a:ln w="19050">
                <a:solidFill>
                  <a:srgbClr val="4A674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615112" y="2688431"/>
              <a:ext cx="1469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A6741"/>
                  </a:solidFill>
                  <a:latin typeface="Arial"/>
                  <a:ea typeface="Microsoft YaHei"/>
                  <a:cs typeface="Arial"/>
                </a:rPr>
                <a:t>发布求购 + 智能匹配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16065" y="2915602"/>
              <a:ext cx="48992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填写书名/作者/最高接受价/成色 → 后端检查同名在售书籍，有则提示直接购买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0" y="3524250"/>
            <a:ext cx="5524500" cy="762000"/>
            <a:chOff x="6096000" y="3524250"/>
            <a:chExt cx="5524500" cy="762000"/>
          </a:xfrm>
        </p:grpSpPr>
        <p:sp>
          <p:nvSpPr>
            <p:cNvPr id="30" name="Rectangle 30"/>
            <p:cNvSpPr/>
            <p:nvPr/>
          </p:nvSpPr>
          <p:spPr>
            <a:xfrm>
              <a:off x="6096000" y="3524250"/>
              <a:ext cx="5524500" cy="762000"/>
            </a:xfrm>
            <a:prstGeom prst="roundRect">
              <a:avLst>
                <a:gd name="adj" fmla="val 17500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365875" y="3817938"/>
              <a:ext cx="119062" cy="95250"/>
            </a:xfrm>
            <a:custGeom>
              <a:avLst/>
              <a:gdLst/>
              <a:ahLst/>
              <a:cxnLst/>
              <a:rect l="l" t="t" r="r" b="b"/>
              <a:pathLst>
                <a:path w="119062" h="95250">
                  <a:moveTo>
                    <a:pt x="87312" y="31750"/>
                  </a:moveTo>
                  <a:lnTo>
                    <a:pt x="119062" y="63500"/>
                  </a:lnTo>
                  <a:lnTo>
                    <a:pt x="87312" y="95250"/>
                  </a:lnTo>
                  <a:moveTo>
                    <a:pt x="119062" y="63500"/>
                  </a:moveTo>
                  <a:lnTo>
                    <a:pt x="31750" y="63500"/>
                  </a:lnTo>
                  <a:cubicBezTo>
                    <a:pt x="14215" y="63500"/>
                    <a:pt x="0" y="49285"/>
                    <a:pt x="0" y="31750"/>
                  </a:cubicBezTo>
                  <a:cubicBezTo>
                    <a:pt x="0" y="14215"/>
                    <a:pt x="14215" y="0"/>
                    <a:pt x="31750" y="0"/>
                  </a:cubicBezTo>
                  <a:lnTo>
                    <a:pt x="39687" y="0"/>
                  </a:lnTo>
                </a:path>
              </a:pathLst>
            </a:custGeom>
            <a:noFill/>
            <a:ln w="19050">
              <a:solidFill>
                <a:srgbClr val="B4945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15112" y="3640931"/>
              <a:ext cx="1469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求购详情 → 卖书预填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16065" y="3868102"/>
              <a:ext cx="38911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点击"我要卖这本书"→ 卖书页自动预填书名/作者/出版社/学院</a:t>
              </a:r>
            </a:p>
          </p:txBody>
        </p:sp>
      </p:grpSp>
      <p:sp>
        <p:nvSpPr>
          <p:cNvPr id="35" name="Ellipse 35"/>
          <p:cNvSpPr/>
          <p:nvPr/>
        </p:nvSpPr>
        <p:spPr>
          <a:xfrm>
            <a:off x="10096500" y="-95250"/>
            <a:ext cx="3048000" cy="3048000"/>
          </a:xfrm>
          <a:prstGeom prst="ellipse">
            <a:avLst/>
          </a:prstGeom>
          <a:noFill/>
          <a:ln w="9525">
            <a:solidFill>
              <a:srgbClr val="B49450">
                <a:alpha val="4000"/>
              </a:srgbClr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0444924" y="6570345"/>
            <a:ext cx="1187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一、学生 Web 端 ·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1" grpId="0"/>
      <p:bldP spid="29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64795"/>
            <a:ext cx="3466243" cy="597217"/>
            <a:chOff x="571500" y="264795"/>
            <a:chExt cx="3466243" cy="597217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457200"/>
            </a:xfrm>
            <a:prstGeom prst="roundRect">
              <a:avLst>
                <a:gd name="adj" fmla="val 50000"/>
              </a:avLst>
            </a:prstGeom>
            <a:solidFill>
              <a:srgbClr val="B4945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1520" y="264795"/>
              <a:ext cx="308533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订单管理与个人中心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48652"/>
              <a:ext cx="32890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买家卖家双视角 · 完整订单生命周期 · 个人信息管理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238250"/>
            <a:ext cx="4953000" cy="3514725"/>
            <a:chOff x="571500" y="1238250"/>
            <a:chExt cx="4953000" cy="3514725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4953000" cy="3238500"/>
            </a:xfrm>
            <a:prstGeom prst="roundRect">
              <a:avLst>
                <a:gd name="adj" fmla="val 4118"/>
              </a:avLst>
            </a:prstGeom>
            <a:solidFill>
              <a:srgbClr val="E5DCCF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238250"/>
              <a:ext cx="4953000" cy="3238500"/>
            </a:xfrm>
            <a:prstGeom prst="roundRect">
              <a:avLst>
                <a:gd name="adj" fmla="val 4117"/>
              </a:avLst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2556510" y="45700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图：我的订单列表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0" y="1238250"/>
            <a:ext cx="5524500" cy="1238250"/>
            <a:chOff x="6096000" y="1238250"/>
            <a:chExt cx="5524500" cy="1238250"/>
          </a:xfrm>
        </p:grpSpPr>
        <p:sp>
          <p:nvSpPr>
            <p:cNvPr id="11" name="Rectangle 11"/>
            <p:cNvSpPr/>
            <p:nvPr/>
          </p:nvSpPr>
          <p:spPr>
            <a:xfrm>
              <a:off x="6096000" y="1238250"/>
              <a:ext cx="5524500" cy="1238250"/>
            </a:xfrm>
            <a:prstGeom prst="roundRect">
              <a:avLst>
                <a:gd name="adj" fmla="val 10769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61760" y="13944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订单状态流转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6286500" y="1762125"/>
              <a:ext cx="4286250" cy="342900"/>
              <a:chOff x="6286500" y="1762125"/>
              <a:chExt cx="4286250" cy="3429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286500" y="1762125"/>
                <a:ext cx="857250" cy="342900"/>
              </a:xfrm>
              <a:prstGeom prst="roundRect">
                <a:avLst>
                  <a:gd name="adj" fmla="val 33333"/>
                </a:avLst>
              </a:prstGeom>
              <a:solidFill>
                <a:srgbClr val="B49450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514671" y="1893570"/>
                <a:ext cx="40090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B49450"/>
                    </a:solidFill>
                    <a:latin typeface="Arial"/>
                    <a:ea typeface="Microsoft YaHei"/>
                    <a:cs typeface="Arial"/>
                  </a:rPr>
                  <a:t>待付款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223760" y="1861185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B49450"/>
                    </a:solidFill>
                    <a:latin typeface="Georgia"/>
                    <a:ea typeface="SimSun"/>
                    <a:cs typeface="Georgia"/>
                  </a:rPr>
                  <a:t>→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7429500" y="1762125"/>
                <a:ext cx="857250" cy="342900"/>
              </a:xfrm>
              <a:prstGeom prst="roundRect">
                <a:avLst>
                  <a:gd name="adj" fmla="val 33333"/>
                </a:avLst>
              </a:prstGeom>
              <a:solidFill>
                <a:srgbClr val="B49450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57671" y="1893570"/>
                <a:ext cx="40090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B49450"/>
                    </a:solidFill>
                    <a:latin typeface="Arial"/>
                    <a:ea typeface="Microsoft YaHei"/>
                    <a:cs typeface="Arial"/>
                  </a:rPr>
                  <a:t>已付款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66760" y="1861185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B49450"/>
                    </a:solidFill>
                    <a:latin typeface="Georgia"/>
                    <a:ea typeface="SimSun"/>
                    <a:cs typeface="Georgia"/>
                  </a:rPr>
                  <a:t>→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8572500" y="1762125"/>
                <a:ext cx="857250" cy="342900"/>
              </a:xfrm>
              <a:prstGeom prst="roundRect">
                <a:avLst>
                  <a:gd name="adj" fmla="val 33333"/>
                </a:avLst>
              </a:prstGeom>
              <a:solidFill>
                <a:srgbClr val="B49450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800671" y="1893570"/>
                <a:ext cx="40090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B49450"/>
                    </a:solidFill>
                    <a:latin typeface="Arial"/>
                    <a:ea typeface="Microsoft YaHei"/>
                    <a:cs typeface="Arial"/>
                  </a:rPr>
                  <a:t>已确认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509760" y="1861185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B49450"/>
                    </a:solidFill>
                    <a:latin typeface="Georgia"/>
                    <a:ea typeface="SimSun"/>
                    <a:cs typeface="Georgia"/>
                  </a:rPr>
                  <a:t>→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9715500" y="1762125"/>
                <a:ext cx="857250" cy="342900"/>
              </a:xfrm>
              <a:prstGeom prst="roundRect">
                <a:avLst>
                  <a:gd name="adj" fmla="val 33333"/>
                </a:avLst>
              </a:prstGeom>
              <a:solidFill>
                <a:srgbClr val="4A6741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943671" y="1893570"/>
                <a:ext cx="40090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4A6741"/>
                    </a:solidFill>
                    <a:latin typeface="Arial"/>
                    <a:ea typeface="Microsoft YaHei"/>
                    <a:cs typeface="Arial"/>
                  </a:rPr>
                  <a:t>已取书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6096000" y="2667000"/>
            <a:ext cx="5524500" cy="1238250"/>
            <a:chOff x="6096000" y="2667000"/>
            <a:chExt cx="5524500" cy="1238250"/>
          </a:xfrm>
        </p:grpSpPr>
        <p:sp>
          <p:nvSpPr>
            <p:cNvPr id="26" name="Rectangle 26"/>
            <p:cNvSpPr/>
            <p:nvPr/>
          </p:nvSpPr>
          <p:spPr>
            <a:xfrm>
              <a:off x="6096000" y="2667000"/>
              <a:ext cx="5524500" cy="1238250"/>
            </a:xfrm>
            <a:prstGeom prst="roundRect">
              <a:avLst>
                <a:gd name="adj" fmla="val 10769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421438" y="2976562"/>
              <a:ext cx="111125" cy="142875"/>
            </a:xfrm>
            <a:custGeom>
              <a:avLst/>
              <a:gdLst/>
              <a:ahLst/>
              <a:cxnLst/>
              <a:rect l="l" t="t" r="r" b="b"/>
              <a:pathLst>
                <a:path w="111125" h="142875">
                  <a:moveTo>
                    <a:pt x="0" y="142875"/>
                  </a:moveTo>
                  <a:lnTo>
                    <a:pt x="0" y="15875"/>
                  </a:lnTo>
                  <a:cubicBezTo>
                    <a:pt x="0" y="7107"/>
                    <a:pt x="7107" y="0"/>
                    <a:pt x="15875" y="0"/>
                  </a:cubicBezTo>
                  <a:lnTo>
                    <a:pt x="95250" y="0"/>
                  </a:lnTo>
                  <a:cubicBezTo>
                    <a:pt x="104018" y="0"/>
                    <a:pt x="111125" y="7107"/>
                    <a:pt x="111125" y="15875"/>
                  </a:cubicBezTo>
                  <a:lnTo>
                    <a:pt x="111125" y="142875"/>
                  </a:lnTo>
                  <a:lnTo>
                    <a:pt x="87313" y="127000"/>
                  </a:lnTo>
                  <a:lnTo>
                    <a:pt x="71438" y="142875"/>
                  </a:lnTo>
                  <a:lnTo>
                    <a:pt x="55563" y="127000"/>
                  </a:lnTo>
                  <a:lnTo>
                    <a:pt x="39688" y="142875"/>
                  </a:lnTo>
                  <a:lnTo>
                    <a:pt x="23812" y="127000"/>
                  </a:lnTo>
                  <a:lnTo>
                    <a:pt x="0" y="142875"/>
                  </a:lnTo>
                  <a:moveTo>
                    <a:pt x="31750" y="31750"/>
                  </a:moveTo>
                  <a:lnTo>
                    <a:pt x="79375" y="31750"/>
                  </a:lnTo>
                  <a:moveTo>
                    <a:pt x="31750" y="63500"/>
                  </a:moveTo>
                  <a:lnTo>
                    <a:pt x="79375" y="63500"/>
                  </a:lnTo>
                  <a:moveTo>
                    <a:pt x="63500" y="95250"/>
                  </a:moveTo>
                  <a:lnTo>
                    <a:pt x="79375" y="95250"/>
                  </a:lnTo>
                </a:path>
              </a:pathLst>
            </a:custGeom>
            <a:noFill/>
            <a:ln w="19050">
              <a:solidFill>
                <a:srgbClr val="B4945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72262" y="2831306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订单详情与操作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73215" y="3077528"/>
              <a:ext cx="27990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编号/书籍/金额/取书地点 → 完整时间线展示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73215" y="3287078"/>
              <a:ext cx="33660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买家可支付/取消 · 卖家可查看售出订单 · 双方可删除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405562" y="3548062"/>
              <a:ext cx="142875" cy="142875"/>
              <a:chOff x="6405562" y="3548062"/>
              <a:chExt cx="142875" cy="14287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405562" y="35480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453188" y="35798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430708" y="3651245"/>
                <a:ext cx="92599" cy="22666"/>
              </a:xfrm>
              <a:custGeom>
                <a:avLst/>
                <a:gdLst/>
                <a:ahLst/>
                <a:cxnLst/>
                <a:rect l="l" t="t" r="r" b="b"/>
                <a:pathLst>
                  <a:path w="92599" h="22666">
                    <a:moveTo>
                      <a:pt x="0" y="22619"/>
                    </a:moveTo>
                    <a:cubicBezTo>
                      <a:pt x="4034" y="9192"/>
                      <a:pt x="16397" y="1"/>
                      <a:pt x="30417" y="5"/>
                    </a:cubicBezTo>
                    <a:lnTo>
                      <a:pt x="62166" y="5"/>
                    </a:lnTo>
                    <a:cubicBezTo>
                      <a:pt x="76205" y="0"/>
                      <a:pt x="88580" y="9215"/>
                      <a:pt x="92599" y="22666"/>
                    </a:cubicBez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672262" y="3402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个人中心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73215" y="3629978"/>
              <a:ext cx="26660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查看/修改个人信息 · 修改密码 · 账户统计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96000" y="4095750"/>
            <a:ext cx="5524500" cy="666750"/>
            <a:chOff x="6096000" y="4095750"/>
            <a:chExt cx="5524500" cy="666750"/>
          </a:xfrm>
        </p:grpSpPr>
        <p:sp>
          <p:nvSpPr>
            <p:cNvPr id="38" name="Rectangle 38"/>
            <p:cNvSpPr/>
            <p:nvPr/>
          </p:nvSpPr>
          <p:spPr>
            <a:xfrm>
              <a:off x="6096000" y="4095750"/>
              <a:ext cx="5524500" cy="666750"/>
            </a:xfrm>
            <a:prstGeom prst="roundRect">
              <a:avLst>
                <a:gd name="adj" fmla="val 20000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05562" y="4357688"/>
              <a:ext cx="144756" cy="144756"/>
              <a:chOff x="6405562" y="4357688"/>
              <a:chExt cx="144756" cy="14475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433344" y="4385469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15875">
                    <a:moveTo>
                      <a:pt x="0" y="7937"/>
                    </a:moveTo>
                    <a:cubicBezTo>
                      <a:pt x="0" y="12321"/>
                      <a:pt x="3554" y="15875"/>
                      <a:pt x="7938" y="15875"/>
                    </a:cubicBezTo>
                    <a:cubicBezTo>
                      <a:pt x="12321" y="15875"/>
                      <a:pt x="15875" y="12321"/>
                      <a:pt x="15875" y="7937"/>
                    </a:cubicBezTo>
                    <a:cubicBezTo>
                      <a:pt x="15875" y="3554"/>
                      <a:pt x="12321" y="0"/>
                      <a:pt x="7938" y="0"/>
                    </a:cubicBezTo>
                    <a:cubicBezTo>
                      <a:pt x="3554" y="0"/>
                      <a:pt x="0" y="3554"/>
                      <a:pt x="0" y="7937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405562" y="4357688"/>
                <a:ext cx="144756" cy="144756"/>
              </a:xfrm>
              <a:custGeom>
                <a:avLst/>
                <a:gdLst/>
                <a:ahLst/>
                <a:cxnLst/>
                <a:rect l="l" t="t" r="r" b="b"/>
                <a:pathLst>
                  <a:path w="144756" h="144756">
                    <a:moveTo>
                      <a:pt x="0" y="23812"/>
                    </a:moveTo>
                    <a:lnTo>
                      <a:pt x="0" y="64865"/>
                    </a:lnTo>
                    <a:cubicBezTo>
                      <a:pt x="1" y="69075"/>
                      <a:pt x="1674" y="73112"/>
                      <a:pt x="4651" y="76089"/>
                    </a:cubicBezTo>
                    <a:lnTo>
                      <a:pt x="65849" y="137287"/>
                    </a:lnTo>
                    <a:cubicBezTo>
                      <a:pt x="73320" y="144756"/>
                      <a:pt x="85430" y="144756"/>
                      <a:pt x="92900" y="137287"/>
                    </a:cubicBezTo>
                    <a:lnTo>
                      <a:pt x="137287" y="92900"/>
                    </a:lnTo>
                    <a:cubicBezTo>
                      <a:pt x="144756" y="85430"/>
                      <a:pt x="144756" y="73320"/>
                      <a:pt x="137287" y="65850"/>
                    </a:cubicBezTo>
                    <a:lnTo>
                      <a:pt x="76089" y="4651"/>
                    </a:lnTo>
                    <a:cubicBezTo>
                      <a:pt x="73112" y="1674"/>
                      <a:pt x="69075" y="1"/>
                      <a:pt x="64865" y="0"/>
                    </a:cubicBezTo>
                    <a:lnTo>
                      <a:pt x="23812" y="0"/>
                    </a:lnTo>
                    <a:cubicBezTo>
                      <a:pt x="17497" y="0"/>
                      <a:pt x="11440" y="2509"/>
                      <a:pt x="6975" y="6975"/>
                    </a:cubicBezTo>
                    <a:cubicBezTo>
                      <a:pt x="2509" y="11440"/>
                      <a:pt x="0" y="17497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672262" y="42124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我的卖书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73215" y="4439602"/>
              <a:ext cx="35621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查看已发布书籍列表 · 已售出可点击"查看订单"跳转详情</a:t>
              </a:r>
            </a:p>
          </p:txBody>
        </p:sp>
      </p:grpSp>
      <p:sp>
        <p:nvSpPr>
          <p:cNvPr id="45" name="Ellipse 45"/>
          <p:cNvSpPr/>
          <p:nvPr/>
        </p:nvSpPr>
        <p:spPr>
          <a:xfrm>
            <a:off x="10287000" y="381000"/>
            <a:ext cx="2667000" cy="2667000"/>
          </a:xfrm>
          <a:prstGeom prst="ellipse">
            <a:avLst/>
          </a:prstGeom>
          <a:noFill/>
          <a:ln w="9525">
            <a:solidFill>
              <a:srgbClr val="B49450">
                <a:alpha val="4000"/>
              </a:srgbClr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10444924" y="6570345"/>
            <a:ext cx="1187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一、学生 Web 端 · 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5" grpId="0"/>
      <p:bldP spid="37" grpId="0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C2416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C2416">
                  <a:alpha val="92000"/>
                </a:srgbClr>
              </a:gs>
              <a:gs pos="60000">
                <a:srgbClr val="2C2416">
                  <a:alpha val="30000"/>
                </a:srgbClr>
              </a:gs>
              <a:gs pos="100000">
                <a:srgbClr val="2C2416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-190500" y="-381000"/>
            <a:ext cx="2286000" cy="2286000"/>
          </a:xfrm>
          <a:prstGeom prst="ellipse">
            <a:avLst/>
          </a:prstGeom>
          <a:noFill/>
          <a:ln w="9525">
            <a:solidFill>
              <a:srgbClr val="B49450">
                <a:alpha val="15000"/>
              </a:srgbClr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910590" y="1394460"/>
            <a:ext cx="3169539" cy="2710815"/>
            <a:chOff x="910590" y="1394460"/>
            <a:chExt cx="3169539" cy="2710815"/>
          </a:xfrm>
        </p:grpSpPr>
        <p:sp>
          <p:nvSpPr>
            <p:cNvPr id="6" name="TextBox 6"/>
            <p:cNvSpPr txBox="1"/>
            <p:nvPr/>
          </p:nvSpPr>
          <p:spPr>
            <a:xfrm>
              <a:off x="937260" y="1394460"/>
              <a:ext cx="1985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4BC7C"/>
                  </a:solidFill>
                  <a:latin typeface="Georgia"/>
                  <a:ea typeface="KaiTi"/>
                  <a:cs typeface="Georgia"/>
                </a:rPr>
                <a:t>一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10590" y="1739265"/>
              <a:ext cx="2602035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D4BC7C"/>
                  </a:solidFill>
                  <a:latin typeface="Georgia"/>
                  <a:ea typeface="KaiTi"/>
                  <a:cs typeface="Georgia"/>
                </a:rPr>
                <a:t>学生 Web 端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52500" y="23812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B4945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5355" y="2807018"/>
              <a:ext cx="28246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8478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12 个 Blade 页面覆盖完整购书流程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7260" y="3251835"/>
              <a:ext cx="31428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47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首页浏览 → 搜索筛选 → 书籍详情 → 一键购买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7260" y="3556635"/>
              <a:ext cx="31428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47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注册登录 → 卖书发布 → 求购匹配 → 订单管理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7260" y="3861435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47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个人中心 → 我的卖书</a:t>
              </a:r>
            </a:p>
          </p:txBody>
        </p:sp>
      </p:grpSp>
      <p:sp>
        <p:nvSpPr>
          <p:cNvPr id="14" name="Rectangle 14"/>
          <p:cNvSpPr/>
          <p:nvPr/>
        </p:nvSpPr>
        <p:spPr>
          <a:xfrm>
            <a:off x="952500" y="4762500"/>
            <a:ext cx="3810000" cy="9525"/>
          </a:xfrm>
          <a:prstGeom prst="rect">
            <a:avLst/>
          </a:prstGeom>
          <a:solidFill>
            <a:srgbClr val="B49450">
              <a:alpha val="2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39165" y="5030152"/>
            <a:ext cx="27430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4BC7C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纯 Blade 架构 · 设计系统统一 · 轻奢学院风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36911" y="6570345"/>
            <a:ext cx="12950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一、学生 Web 端 · 小结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8000"/>
                </a:srgbClr>
              </a:gs>
              <a:gs pos="100000">
                <a:srgbClr val="B4945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57742" y="1638300"/>
            <a:ext cx="1076516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B49450">
                    <a:alphaMod val="15000"/>
                  </a:srgbClr>
                </a:solidFill>
                <a:latin typeface="Georgia"/>
                <a:ea typeface="KaiTi"/>
                <a:cs typeface="Georgia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38091" y="2849880"/>
            <a:ext cx="311581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二、管理后台</a:t>
            </a:r>
          </a:p>
        </p:txBody>
      </p:sp>
      <p:sp>
        <p:nvSpPr>
          <p:cNvPr id="6" name="Rectangle 6"/>
          <p:cNvSpPr/>
          <p:nvPr/>
        </p:nvSpPr>
        <p:spPr>
          <a:xfrm>
            <a:off x="3714750" y="3524250"/>
            <a:ext cx="4762500" cy="19050"/>
          </a:xfrm>
          <a:prstGeom prst="rect">
            <a:avLst/>
          </a:prstGeom>
          <a:solidFill>
            <a:srgbClr val="E5DCC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261723" y="3933825"/>
            <a:ext cx="366855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7 大模块 · 书籍审核上架 · 订单用户管理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61811" y="4267200"/>
            <a:ext cx="22683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院校分类同步 · 评价管理</a:t>
            </a:r>
          </a:p>
        </p:txBody>
      </p:sp>
      <p:sp>
        <p:nvSpPr>
          <p:cNvPr id="9" name="Ellipse 9"/>
          <p:cNvSpPr/>
          <p:nvPr/>
        </p:nvSpPr>
        <p:spPr>
          <a:xfrm>
            <a:off x="1428750" y="4667250"/>
            <a:ext cx="952500" cy="952500"/>
          </a:xfrm>
          <a:prstGeom prst="ellipse">
            <a:avLst/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2333625" y="4619625"/>
            <a:ext cx="666750" cy="666750"/>
          </a:xfrm>
          <a:prstGeom prst="ellipse">
            <a:avLst/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9048750" y="4667250"/>
            <a:ext cx="952500" cy="952500"/>
          </a:xfrm>
          <a:prstGeom prst="ellipse">
            <a:avLst/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953625" y="4619625"/>
            <a:ext cx="666750" cy="666750"/>
          </a:xfrm>
          <a:prstGeom prst="ellipse">
            <a:avLst/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1477054" y="65893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64795"/>
            <a:ext cx="3606260" cy="597217"/>
            <a:chOff x="571500" y="264795"/>
            <a:chExt cx="3606260" cy="597217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457200"/>
            </a:xfrm>
            <a:prstGeom prst="roundRect">
              <a:avLst>
                <a:gd name="adj" fmla="val 50000"/>
              </a:avLst>
            </a:prstGeom>
            <a:solidFill>
              <a:srgbClr val="6B273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1520" y="264795"/>
              <a:ext cx="274929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仪表盘与书籍管理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48652"/>
              <a:ext cx="34290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核心指标一览 · 审核通过自动上架 · 状态筛选自动提交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238250"/>
            <a:ext cx="5334000" cy="2657475"/>
            <a:chOff x="571500" y="1238250"/>
            <a:chExt cx="5334000" cy="2657475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2381250"/>
            </a:xfrm>
            <a:prstGeom prst="roundRect">
              <a:avLst>
                <a:gd name="adj" fmla="val 5600"/>
              </a:avLst>
            </a:prstGeom>
            <a:solidFill>
              <a:srgbClr val="E5DCCF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238250"/>
              <a:ext cx="5334000" cy="2381250"/>
            </a:xfrm>
            <a:prstGeom prst="roundRect">
              <a:avLst>
                <a:gd name="adj" fmla="val 5600"/>
              </a:avLst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2687002" y="3712845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图：管理后台仪表盘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86500" y="1238250"/>
            <a:ext cx="5334000" cy="2657475"/>
            <a:chOff x="6286500" y="1238250"/>
            <a:chExt cx="5334000" cy="2657475"/>
          </a:xfrm>
        </p:grpSpPr>
        <p:sp>
          <p:nvSpPr>
            <p:cNvPr id="11" name="Rectangle 11"/>
            <p:cNvSpPr/>
            <p:nvPr/>
          </p:nvSpPr>
          <p:spPr>
            <a:xfrm>
              <a:off x="6286500" y="1238250"/>
              <a:ext cx="5334000" cy="2381250"/>
            </a:xfrm>
            <a:prstGeom prst="roundRect">
              <a:avLst>
                <a:gd name="adj" fmla="val 5600"/>
              </a:avLst>
            </a:prstGeom>
            <a:solidFill>
              <a:srgbClr val="E5DCCF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500" y="1238250"/>
              <a:ext cx="5334000" cy="2381250"/>
            </a:xfrm>
            <a:prstGeom prst="roundRect">
              <a:avLst>
                <a:gd name="adj" fmla="val 5600"/>
              </a:avLst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8462010" y="371284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图：书籍审核编辑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4095750"/>
            <a:ext cx="5334000" cy="857250"/>
            <a:chOff x="571500" y="4095750"/>
            <a:chExt cx="5334000" cy="857250"/>
          </a:xfrm>
        </p:grpSpPr>
        <p:sp>
          <p:nvSpPr>
            <p:cNvPr id="15" name="Rectangle 15"/>
            <p:cNvSpPr/>
            <p:nvPr/>
          </p:nvSpPr>
          <p:spPr>
            <a:xfrm>
              <a:off x="571500" y="4095750"/>
              <a:ext cx="5334000" cy="857250"/>
            </a:xfrm>
            <a:prstGeom prst="roundRect">
              <a:avLst>
                <a:gd name="adj" fmla="val 15556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881062" y="4394200"/>
              <a:ext cx="142875" cy="136525"/>
              <a:chOff x="881062" y="4394200"/>
              <a:chExt cx="142875" cy="1365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81062" y="4457700"/>
                <a:ext cx="476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63500">
                    <a:moveTo>
                      <a:pt x="0" y="7937"/>
                    </a:moveTo>
                    <a:cubicBezTo>
                      <a:pt x="0" y="3554"/>
                      <a:pt x="3554" y="0"/>
                      <a:pt x="7937" y="0"/>
                    </a:cubicBezTo>
                    <a:lnTo>
                      <a:pt x="39688" y="0"/>
                    </a:lnTo>
                    <a:cubicBezTo>
                      <a:pt x="44071" y="0"/>
                      <a:pt x="47625" y="3554"/>
                      <a:pt x="47625" y="7937"/>
                    </a:cubicBezTo>
                    <a:lnTo>
                      <a:pt x="47625" y="55562"/>
                    </a:lnTo>
                    <a:cubicBezTo>
                      <a:pt x="47625" y="59946"/>
                      <a:pt x="44071" y="63500"/>
                      <a:pt x="39688" y="63500"/>
                    </a:cubicBezTo>
                    <a:lnTo>
                      <a:pt x="7937" y="63500"/>
                    </a:lnTo>
                    <a:cubicBezTo>
                      <a:pt x="3554" y="63500"/>
                      <a:pt x="0" y="59946"/>
                      <a:pt x="0" y="55562"/>
                    </a:cubicBezTo>
                    <a:lnTo>
                      <a:pt x="0" y="7937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76312" y="442595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7937"/>
                    </a:moveTo>
                    <a:cubicBezTo>
                      <a:pt x="0" y="3554"/>
                      <a:pt x="3554" y="0"/>
                      <a:pt x="7937" y="0"/>
                    </a:cubicBezTo>
                    <a:lnTo>
                      <a:pt x="39688" y="0"/>
                    </a:lnTo>
                    <a:cubicBezTo>
                      <a:pt x="44071" y="0"/>
                      <a:pt x="47625" y="3554"/>
                      <a:pt x="47625" y="7937"/>
                    </a:cubicBezTo>
                    <a:lnTo>
                      <a:pt x="47625" y="87312"/>
                    </a:lnTo>
                    <a:cubicBezTo>
                      <a:pt x="47625" y="91696"/>
                      <a:pt x="44071" y="95250"/>
                      <a:pt x="39688" y="95250"/>
                    </a:cubicBezTo>
                    <a:lnTo>
                      <a:pt x="7937" y="95250"/>
                    </a:lnTo>
                    <a:cubicBezTo>
                      <a:pt x="3554" y="95250"/>
                      <a:pt x="0" y="91696"/>
                      <a:pt x="0" y="87312"/>
                    </a:cubicBezTo>
                    <a:lnTo>
                      <a:pt x="0" y="7937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28688" y="4394200"/>
                <a:ext cx="476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27000">
                    <a:moveTo>
                      <a:pt x="0" y="7938"/>
                    </a:moveTo>
                    <a:cubicBezTo>
                      <a:pt x="0" y="3554"/>
                      <a:pt x="3554" y="0"/>
                      <a:pt x="7937" y="0"/>
                    </a:cubicBezTo>
                    <a:lnTo>
                      <a:pt x="39688" y="0"/>
                    </a:lnTo>
                    <a:cubicBezTo>
                      <a:pt x="44071" y="0"/>
                      <a:pt x="47625" y="3554"/>
                      <a:pt x="47625" y="7938"/>
                    </a:cubicBezTo>
                    <a:lnTo>
                      <a:pt x="47625" y="119062"/>
                    </a:lnTo>
                    <a:cubicBezTo>
                      <a:pt x="47625" y="123446"/>
                      <a:pt x="44071" y="127000"/>
                      <a:pt x="39688" y="127000"/>
                    </a:cubicBezTo>
                    <a:lnTo>
                      <a:pt x="7937" y="127000"/>
                    </a:lnTo>
                    <a:cubicBezTo>
                      <a:pt x="3554" y="127000"/>
                      <a:pt x="0" y="123446"/>
                      <a:pt x="0" y="119062"/>
                    </a:cubicBezTo>
                    <a:lnTo>
                      <a:pt x="0" y="7938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89000" y="4521200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147762" y="4241006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仪表盘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8715" y="4487228"/>
              <a:ext cx="34500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书籍总数 / 订单总数 / 用户总数 / 求购总数等核心指标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48715" y="4696778"/>
              <a:ext cx="3590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左侧导航菜单含 7 个管理模块 · 暖棕侧边栏 + 香槟金设计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286500" y="4095750"/>
            <a:ext cx="5334000" cy="857250"/>
            <a:chOff x="6286500" y="4095750"/>
            <a:chExt cx="5334000" cy="857250"/>
          </a:xfrm>
        </p:grpSpPr>
        <p:sp>
          <p:nvSpPr>
            <p:cNvPr id="25" name="Rectangle 25"/>
            <p:cNvSpPr/>
            <p:nvPr/>
          </p:nvSpPr>
          <p:spPr>
            <a:xfrm>
              <a:off x="6286500" y="4095750"/>
              <a:ext cx="5334000" cy="857250"/>
            </a:xfrm>
            <a:prstGeom prst="roundRect">
              <a:avLst>
                <a:gd name="adj" fmla="val 15556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611938" y="4386262"/>
              <a:ext cx="111125" cy="142876"/>
              <a:chOff x="6611938" y="4386262"/>
              <a:chExt cx="111125" cy="14287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611938" y="4402138"/>
                <a:ext cx="1111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27000">
                    <a:moveTo>
                      <a:pt x="31750" y="0"/>
                    </a:moveTo>
                    <a:lnTo>
                      <a:pt x="15875" y="0"/>
                    </a:lnTo>
                    <a:cubicBezTo>
                      <a:pt x="7107" y="0"/>
                      <a:pt x="0" y="7107"/>
                      <a:pt x="0" y="15875"/>
                    </a:cubicBezTo>
                    <a:lnTo>
                      <a:pt x="0" y="111125"/>
                    </a:lnTo>
                    <a:cubicBezTo>
                      <a:pt x="0" y="119893"/>
                      <a:pt x="7107" y="127000"/>
                      <a:pt x="15875" y="127000"/>
                    </a:cubicBezTo>
                    <a:lnTo>
                      <a:pt x="95250" y="127000"/>
                    </a:lnTo>
                    <a:cubicBezTo>
                      <a:pt x="104018" y="127000"/>
                      <a:pt x="111125" y="119893"/>
                      <a:pt x="111125" y="111125"/>
                    </a:cubicBezTo>
                    <a:lnTo>
                      <a:pt x="111125" y="15875"/>
                    </a:lnTo>
                    <a:cubicBezTo>
                      <a:pt x="111125" y="7107"/>
                      <a:pt x="104018" y="0"/>
                      <a:pt x="95250" y="0"/>
                    </a:cubicBezTo>
                    <a:lnTo>
                      <a:pt x="79375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43688" y="4386262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31750" y="0"/>
                    </a:lnTo>
                    <a:cubicBezTo>
                      <a:pt x="40518" y="0"/>
                      <a:pt x="47625" y="7107"/>
                      <a:pt x="47625" y="15875"/>
                    </a:cubicBezTo>
                    <a:cubicBezTo>
                      <a:pt x="47625" y="24643"/>
                      <a:pt x="40518" y="31750"/>
                      <a:pt x="31750" y="31750"/>
                    </a:cubicBezTo>
                    <a:lnTo>
                      <a:pt x="15875" y="31750"/>
                    </a:lnTo>
                    <a:cubicBezTo>
                      <a:pt x="7107" y="31750"/>
                      <a:pt x="0" y="24643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643688" y="4457700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862762" y="4241006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书籍审核与管理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63715" y="4487228"/>
              <a:ext cx="36531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审核通过 → 自动上架（status=active）· 驳回需填写原因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63715" y="4696778"/>
              <a:ext cx="34220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rejected 和 removed 双状态独立 · 状态下拉自动提交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5143500"/>
            <a:ext cx="11049000" cy="523875"/>
            <a:chOff x="571500" y="5143500"/>
            <a:chExt cx="11049000" cy="523875"/>
          </a:xfrm>
        </p:grpSpPr>
        <p:sp>
          <p:nvSpPr>
            <p:cNvPr id="34" name="Rectangle 34"/>
            <p:cNvSpPr/>
            <p:nvPr/>
          </p:nvSpPr>
          <p:spPr>
            <a:xfrm>
              <a:off x="571500" y="5143500"/>
              <a:ext cx="11049000" cy="523875"/>
            </a:xfrm>
            <a:prstGeom prst="roundRect">
              <a:avLst>
                <a:gd name="adj" fmla="val 25455"/>
              </a:avLst>
            </a:prstGeom>
            <a:solidFill>
              <a:srgbClr val="FDFAF4"/>
            </a:solidFill>
            <a:ln w="9525">
              <a:solidFill>
                <a:srgbClr val="E5DCCF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5257800"/>
              <a:ext cx="762000" cy="285750"/>
            </a:xfrm>
            <a:prstGeom prst="roundRect">
              <a:avLst>
                <a:gd name="adj" fmla="val 26667"/>
              </a:avLst>
            </a:prstGeom>
            <a:solidFill>
              <a:srgbClr val="4A6741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9396" y="5360670"/>
              <a:ext cx="4072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6741"/>
                  </a:solidFill>
                  <a:latin typeface="Arial"/>
                  <a:ea typeface="Microsoft YaHei"/>
                  <a:cs typeface="Arial"/>
                </a:rPr>
                <a:t>active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63065" y="5344478"/>
              <a:ext cx="425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9450"/>
                  </a:solidFill>
                  <a:latin typeface="Arial"/>
                  <a:ea typeface="Microsoft YaHei"/>
                  <a:cs typeface="Arial"/>
                </a:rPr>
                <a:t>← 在售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667000" y="5257800"/>
              <a:ext cx="762000" cy="285750"/>
            </a:xfrm>
            <a:prstGeom prst="roundRect">
              <a:avLst>
                <a:gd name="adj" fmla="val 26667"/>
              </a:avLst>
            </a:prstGeom>
            <a:solidFill>
              <a:srgbClr val="6B2737">
                <a:alpha val="8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775087" y="5360670"/>
              <a:ext cx="5458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2737"/>
                  </a:solidFill>
                  <a:latin typeface="Arial"/>
                  <a:ea typeface="Microsoft YaHei"/>
                  <a:cs typeface="Arial"/>
                </a:rPr>
                <a:t>rejected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68065" y="5344478"/>
              <a:ext cx="425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← 驳回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572000" y="5257800"/>
              <a:ext cx="762000" cy="285750"/>
            </a:xfrm>
            <a:prstGeom prst="roundRect">
              <a:avLst>
                <a:gd name="adj" fmla="val 26667"/>
              </a:avLst>
            </a:prstGeom>
            <a:solidFill>
              <a:srgbClr val="6B2737">
                <a:alpha val="5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686388" y="5360670"/>
              <a:ext cx="5332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2737"/>
                  </a:solidFill>
                  <a:latin typeface="Arial"/>
                  <a:ea typeface="Microsoft YaHei"/>
                  <a:cs typeface="Arial"/>
                </a:rPr>
                <a:t>removed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73065" y="5344478"/>
              <a:ext cx="425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← 下架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77000" y="5257800"/>
              <a:ext cx="762000" cy="285750"/>
            </a:xfrm>
            <a:prstGeom prst="roundRect">
              <a:avLst>
                <a:gd name="adj" fmla="val 26667"/>
              </a:avLst>
            </a:prstGeom>
            <a:solidFill>
              <a:srgbClr val="B49450">
                <a:alpha val="10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19742" y="5360670"/>
              <a:ext cx="4765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pending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78065" y="5344478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← 待审核</a:t>
              </a:r>
            </a:p>
          </p:txBody>
        </p:sp>
      </p:grpSp>
      <p:sp>
        <p:nvSpPr>
          <p:cNvPr id="48" name="Ellipse 48"/>
          <p:cNvSpPr/>
          <p:nvPr/>
        </p:nvSpPr>
        <p:spPr>
          <a:xfrm>
            <a:off x="10287000" y="0"/>
            <a:ext cx="2286000" cy="2286000"/>
          </a:xfrm>
          <a:prstGeom prst="ellipse">
            <a:avLst/>
          </a:prstGeom>
          <a:noFill/>
          <a:ln w="9525">
            <a:solidFill>
              <a:srgbClr val="6B2737">
                <a:alpha val="3000"/>
              </a:srgbClr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10618946" y="6570345"/>
            <a:ext cx="1012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三、管理后台 ·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4" grpId="0"/>
      <p:bldP spid="33" grpId="0"/>
      <p:bldP spid="4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64795"/>
            <a:ext cx="3466243" cy="597217"/>
            <a:chOff x="571500" y="264795"/>
            <a:chExt cx="3466243" cy="597217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457200"/>
            </a:xfrm>
            <a:prstGeom prst="roundRect">
              <a:avLst>
                <a:gd name="adj" fmla="val 50000"/>
              </a:avLst>
            </a:prstGeom>
            <a:solidFill>
              <a:srgbClr val="6B273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1520" y="264795"/>
              <a:ext cx="241325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订单与用户管理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48652"/>
              <a:ext cx="32890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订单详情双栏等高 · 用户软删除 · 状态筛选自动提交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238250"/>
            <a:ext cx="5334000" cy="2752725"/>
            <a:chOff x="571500" y="1238250"/>
            <a:chExt cx="5334000" cy="2752725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2476500"/>
            </a:xfrm>
            <a:prstGeom prst="roundRect">
              <a:avLst>
                <a:gd name="adj" fmla="val 5385"/>
              </a:avLst>
            </a:prstGeom>
            <a:solidFill>
              <a:srgbClr val="E5DCCF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238250"/>
              <a:ext cx="5334000" cy="2476500"/>
            </a:xfrm>
            <a:prstGeom prst="roundRect">
              <a:avLst>
                <a:gd name="adj" fmla="val 5384"/>
              </a:avLst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2867025" y="38080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图：订单详情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86500" y="1238250"/>
            <a:ext cx="5334000" cy="2752725"/>
            <a:chOff x="6286500" y="1238250"/>
            <a:chExt cx="5334000" cy="2752725"/>
          </a:xfrm>
        </p:grpSpPr>
        <p:sp>
          <p:nvSpPr>
            <p:cNvPr id="11" name="Rectangle 11"/>
            <p:cNvSpPr/>
            <p:nvPr/>
          </p:nvSpPr>
          <p:spPr>
            <a:xfrm>
              <a:off x="6286500" y="1238250"/>
              <a:ext cx="5334000" cy="2476500"/>
            </a:xfrm>
            <a:prstGeom prst="roundRect">
              <a:avLst>
                <a:gd name="adj" fmla="val 5385"/>
              </a:avLst>
            </a:prstGeom>
            <a:solidFill>
              <a:srgbClr val="E5DCCF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500" y="1238250"/>
              <a:ext cx="5334000" cy="2476500"/>
            </a:xfrm>
            <a:prstGeom prst="roundRect">
              <a:avLst>
                <a:gd name="adj" fmla="val 5384"/>
              </a:avLst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8462010" y="38080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图：用户编辑页面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4191000"/>
            <a:ext cx="5334000" cy="1047750"/>
            <a:chOff x="571500" y="4191000"/>
            <a:chExt cx="5334000" cy="1047750"/>
          </a:xfrm>
        </p:grpSpPr>
        <p:sp>
          <p:nvSpPr>
            <p:cNvPr id="15" name="Rectangle 15"/>
            <p:cNvSpPr/>
            <p:nvPr/>
          </p:nvSpPr>
          <p:spPr>
            <a:xfrm>
              <a:off x="571500" y="4191000"/>
              <a:ext cx="5334000" cy="1047750"/>
            </a:xfrm>
            <a:prstGeom prst="roundRect">
              <a:avLst>
                <a:gd name="adj" fmla="val 12727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96938" y="4481512"/>
              <a:ext cx="111125" cy="142875"/>
            </a:xfrm>
            <a:custGeom>
              <a:avLst/>
              <a:gdLst/>
              <a:ahLst/>
              <a:cxnLst/>
              <a:rect l="l" t="t" r="r" b="b"/>
              <a:pathLst>
                <a:path w="111125" h="142875">
                  <a:moveTo>
                    <a:pt x="0" y="142875"/>
                  </a:moveTo>
                  <a:lnTo>
                    <a:pt x="0" y="15875"/>
                  </a:lnTo>
                  <a:cubicBezTo>
                    <a:pt x="0" y="7107"/>
                    <a:pt x="7107" y="0"/>
                    <a:pt x="15875" y="0"/>
                  </a:cubicBezTo>
                  <a:lnTo>
                    <a:pt x="95250" y="0"/>
                  </a:lnTo>
                  <a:cubicBezTo>
                    <a:pt x="104018" y="0"/>
                    <a:pt x="111125" y="7107"/>
                    <a:pt x="111125" y="15875"/>
                  </a:cubicBezTo>
                  <a:lnTo>
                    <a:pt x="111125" y="142875"/>
                  </a:lnTo>
                  <a:lnTo>
                    <a:pt x="87312" y="127000"/>
                  </a:lnTo>
                  <a:lnTo>
                    <a:pt x="71438" y="142875"/>
                  </a:lnTo>
                  <a:lnTo>
                    <a:pt x="55562" y="127000"/>
                  </a:lnTo>
                  <a:lnTo>
                    <a:pt x="39687" y="142875"/>
                  </a:lnTo>
                  <a:lnTo>
                    <a:pt x="23812" y="127000"/>
                  </a:lnTo>
                  <a:lnTo>
                    <a:pt x="0" y="142875"/>
                  </a:lnTo>
                  <a:moveTo>
                    <a:pt x="31750" y="31750"/>
                  </a:moveTo>
                  <a:lnTo>
                    <a:pt x="79375" y="31750"/>
                  </a:lnTo>
                  <a:moveTo>
                    <a:pt x="31750" y="63500"/>
                  </a:moveTo>
                  <a:lnTo>
                    <a:pt x="79375" y="63500"/>
                  </a:lnTo>
                  <a:moveTo>
                    <a:pt x="63500" y="95250"/>
                  </a:moveTo>
                  <a:lnTo>
                    <a:pt x="79375" y="95250"/>
                  </a:lnTo>
                </a:path>
              </a:pathLst>
            </a:custGeom>
            <a:noFill/>
            <a:ln w="19050">
              <a:solidFill>
                <a:srgbClr val="6B273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47762" y="43362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订单管理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48715" y="4582478"/>
              <a:ext cx="34080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订单列表：状态筛选下拉自动提交 · 编辑按钮查看详情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48715" y="4792028"/>
              <a:ext cx="31490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详情：左栏基本信息 / 右栏书籍明细 / 底部时间线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48715" y="5001578"/>
              <a:ext cx="33310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状态流转：pending → paid → confirmed → picked_up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4191000"/>
            <a:ext cx="5334000" cy="1047750"/>
            <a:chOff x="6286500" y="4191000"/>
            <a:chExt cx="5334000" cy="1047750"/>
          </a:xfrm>
        </p:grpSpPr>
        <p:sp>
          <p:nvSpPr>
            <p:cNvPr id="22" name="Rectangle 22"/>
            <p:cNvSpPr/>
            <p:nvPr/>
          </p:nvSpPr>
          <p:spPr>
            <a:xfrm>
              <a:off x="6286500" y="4191000"/>
              <a:ext cx="5334000" cy="1047750"/>
            </a:xfrm>
            <a:prstGeom prst="roundRect">
              <a:avLst>
                <a:gd name="adj" fmla="val 12727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596062" y="4481512"/>
              <a:ext cx="142875" cy="142875"/>
              <a:chOff x="6596062" y="4481512"/>
              <a:chExt cx="142875" cy="14287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611938" y="4481512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596062" y="4576762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  <a:cubicBezTo>
                      <a:pt x="81035" y="0"/>
                      <a:pt x="95250" y="14215"/>
                      <a:pt x="95250" y="31750"/>
                    </a:cubicBezTo>
                    <a:lnTo>
                      <a:pt x="95250" y="47625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699250" y="4482544"/>
                <a:ext cx="23875" cy="61516"/>
              </a:xfrm>
              <a:custGeom>
                <a:avLst/>
                <a:gdLst/>
                <a:ahLst/>
                <a:cxnLst/>
                <a:rect l="l" t="t" r="r" b="b"/>
                <a:pathLst>
                  <a:path w="23875" h="61516">
                    <a:moveTo>
                      <a:pt x="0" y="0"/>
                    </a:moveTo>
                    <a:cubicBezTo>
                      <a:pt x="14049" y="3597"/>
                      <a:pt x="23875" y="16256"/>
                      <a:pt x="23875" y="30758"/>
                    </a:cubicBezTo>
                    <a:cubicBezTo>
                      <a:pt x="23875" y="45260"/>
                      <a:pt x="14049" y="57919"/>
                      <a:pt x="0" y="61516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715125" y="4577953"/>
                <a:ext cx="23812" cy="46434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46434">
                    <a:moveTo>
                      <a:pt x="23812" y="46434"/>
                    </a:moveTo>
                    <a:lnTo>
                      <a:pt x="23812" y="30559"/>
                    </a:lnTo>
                    <a:cubicBezTo>
                      <a:pt x="23730" y="16149"/>
                      <a:pt x="13953" y="3602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862762" y="43362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用户管理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63715" y="4582478"/>
              <a:ext cx="40171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角色（student/admin）+ 状态（正常/禁用）下拉筛选自动提交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63715" y="4792028"/>
              <a:ext cx="25119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编辑：姓名/学号/手机/角色/状态/密码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63715" y="5001578"/>
              <a:ext cx="25679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软删除：不能删除自己 · 删除前确认弹窗</a:t>
              </a:r>
            </a:p>
          </p:txBody>
        </p:sp>
      </p:grpSp>
      <p:sp>
        <p:nvSpPr>
          <p:cNvPr id="33" name="Ellipse 33"/>
          <p:cNvSpPr/>
          <p:nvPr/>
        </p:nvSpPr>
        <p:spPr>
          <a:xfrm>
            <a:off x="10477500" y="285750"/>
            <a:ext cx="1905000" cy="1905000"/>
          </a:xfrm>
          <a:prstGeom prst="ellipse">
            <a:avLst/>
          </a:prstGeom>
          <a:noFill/>
          <a:ln w="9525">
            <a:solidFill>
              <a:srgbClr val="6B2737">
                <a:alpha val="3000"/>
              </a:srgbClr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0618946" y="6570345"/>
            <a:ext cx="1012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三、管理后台 ·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1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64795"/>
            <a:ext cx="2906173" cy="597217"/>
            <a:chOff x="571500" y="264795"/>
            <a:chExt cx="2906173" cy="597217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457200"/>
            </a:xfrm>
            <a:prstGeom prst="roundRect">
              <a:avLst>
                <a:gd name="adj" fmla="val 50000"/>
              </a:avLst>
            </a:prstGeom>
            <a:solidFill>
              <a:srgbClr val="6B273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1520" y="264795"/>
              <a:ext cx="241325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求购与分类管理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48652"/>
              <a:ext cx="27290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求购软删除 + 分类学院一一对应 · 自动同步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238250"/>
            <a:ext cx="5334000" cy="2752725"/>
            <a:chOff x="571500" y="1238250"/>
            <a:chExt cx="5334000" cy="2752725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2476500"/>
            </a:xfrm>
            <a:prstGeom prst="roundRect">
              <a:avLst>
                <a:gd name="adj" fmla="val 5385"/>
              </a:avLst>
            </a:prstGeom>
            <a:solidFill>
              <a:srgbClr val="E5DCCF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238250"/>
              <a:ext cx="5334000" cy="2476500"/>
            </a:xfrm>
            <a:prstGeom prst="roundRect">
              <a:avLst>
                <a:gd name="adj" fmla="val 5384"/>
              </a:avLst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2747010" y="38080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图：求购编辑页面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86500" y="1238250"/>
            <a:ext cx="5334000" cy="2752725"/>
            <a:chOff x="6286500" y="1238250"/>
            <a:chExt cx="5334000" cy="2752725"/>
          </a:xfrm>
        </p:grpSpPr>
        <p:sp>
          <p:nvSpPr>
            <p:cNvPr id="11" name="Rectangle 11"/>
            <p:cNvSpPr/>
            <p:nvPr/>
          </p:nvSpPr>
          <p:spPr>
            <a:xfrm>
              <a:off x="6286500" y="1238250"/>
              <a:ext cx="5334000" cy="2476500"/>
            </a:xfrm>
            <a:prstGeom prst="roundRect">
              <a:avLst>
                <a:gd name="adj" fmla="val 5385"/>
              </a:avLst>
            </a:prstGeom>
            <a:solidFill>
              <a:srgbClr val="E5DCCF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500" y="1238250"/>
              <a:ext cx="5334000" cy="2476500"/>
            </a:xfrm>
            <a:prstGeom prst="roundRect">
              <a:avLst>
                <a:gd name="adj" fmla="val 5384"/>
              </a:avLst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8462010" y="38080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图：分类管理列表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4191000"/>
            <a:ext cx="5334000" cy="1047750"/>
            <a:chOff x="571500" y="4191000"/>
            <a:chExt cx="5334000" cy="1047750"/>
          </a:xfrm>
        </p:grpSpPr>
        <p:sp>
          <p:nvSpPr>
            <p:cNvPr id="15" name="Rectangle 15"/>
            <p:cNvSpPr/>
            <p:nvPr/>
          </p:nvSpPr>
          <p:spPr>
            <a:xfrm>
              <a:off x="571500" y="4191000"/>
              <a:ext cx="5334000" cy="1047750"/>
            </a:xfrm>
            <a:prstGeom prst="roundRect">
              <a:avLst>
                <a:gd name="adj" fmla="val 12727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881062" y="4481512"/>
              <a:ext cx="142875" cy="142875"/>
              <a:chOff x="881062" y="4481512"/>
              <a:chExt cx="142875" cy="14287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81062" y="448151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7" y="71438"/>
                    </a:lnTo>
                    <a:moveTo>
                      <a:pt x="71438" y="0"/>
                    </a:moveTo>
                    <a:lnTo>
                      <a:pt x="71438" y="7937"/>
                    </a:lnTo>
                    <a:moveTo>
                      <a:pt x="134938" y="71438"/>
                    </a:moveTo>
                    <a:lnTo>
                      <a:pt x="142875" y="71438"/>
                    </a:lnTo>
                    <a:moveTo>
                      <a:pt x="20638" y="20638"/>
                    </a:moveTo>
                    <a:lnTo>
                      <a:pt x="26194" y="26194"/>
                    </a:lnTo>
                    <a:moveTo>
                      <a:pt x="122237" y="20638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4A674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09447" y="451326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4A674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34244" y="4592638"/>
                <a:ext cx="365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9525">
                    <a:moveTo>
                      <a:pt x="0" y="0"/>
                    </a:moveTo>
                    <a:lnTo>
                      <a:pt x="36513" y="0"/>
                    </a:lnTo>
                  </a:path>
                </a:pathLst>
              </a:custGeom>
              <a:noFill/>
              <a:ln w="19050">
                <a:solidFill>
                  <a:srgbClr val="4A6741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147762" y="43362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求购管理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8715" y="4582478"/>
              <a:ext cx="33520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列表中显示书名/发布者/学院/最高价/状态/过期时间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8715" y="4792028"/>
              <a:ext cx="34290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编辑：书名/作者/出版社/学院/最高价/成色范围/状态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48715" y="5001578"/>
              <a:ext cx="39331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删除：软删除求购 + 级联删除接单记录（want_fulfillments）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0" y="4191000"/>
            <a:ext cx="5334000" cy="1047750"/>
            <a:chOff x="6286500" y="4191000"/>
            <a:chExt cx="5334000" cy="1047750"/>
          </a:xfrm>
        </p:grpSpPr>
        <p:sp>
          <p:nvSpPr>
            <p:cNvPr id="25" name="Rectangle 25"/>
            <p:cNvSpPr/>
            <p:nvPr/>
          </p:nvSpPr>
          <p:spPr>
            <a:xfrm>
              <a:off x="6286500" y="4191000"/>
              <a:ext cx="5334000" cy="1047750"/>
            </a:xfrm>
            <a:prstGeom prst="roundRect">
              <a:avLst>
                <a:gd name="adj" fmla="val 12727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604000" y="4489450"/>
              <a:ext cx="127000" cy="127000"/>
              <a:chOff x="6604000" y="4489450"/>
              <a:chExt cx="127000" cy="127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604000" y="44894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47625" y="0"/>
                    </a:lnTo>
                    <a:lnTo>
                      <a:pt x="47625" y="47625"/>
                    </a:lnTo>
                    <a:lnTo>
                      <a:pt x="0" y="4762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83375" y="44894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47625" y="0"/>
                    </a:lnTo>
                    <a:lnTo>
                      <a:pt x="47625" y="47625"/>
                    </a:lnTo>
                    <a:lnTo>
                      <a:pt x="0" y="4762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604000" y="45688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47625" y="0"/>
                    </a:lnTo>
                    <a:lnTo>
                      <a:pt x="47625" y="47625"/>
                    </a:lnTo>
                    <a:lnTo>
                      <a:pt x="0" y="4762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683375" y="45688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862762" y="4336256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分类与学院同步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63715" y="458247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七个分类与七大学院一一对应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63715" y="4792028"/>
              <a:ext cx="34080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分类名称可编辑 · 修改后影响前台学院筛选和书籍分类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63715" y="5001578"/>
              <a:ext cx="25399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学院增/改/删时自动同步 categories 表</a:t>
              </a:r>
            </a:p>
          </p:txBody>
        </p:sp>
      </p:grpSp>
      <p:sp>
        <p:nvSpPr>
          <p:cNvPr id="36" name="Ellipse 36"/>
          <p:cNvSpPr/>
          <p:nvPr/>
        </p:nvSpPr>
        <p:spPr>
          <a:xfrm>
            <a:off x="4476750" y="3619500"/>
            <a:ext cx="3429000" cy="3429000"/>
          </a:xfrm>
          <a:prstGeom prst="ellipse">
            <a:avLst/>
          </a:prstGeom>
          <a:noFill/>
          <a:ln w="9525">
            <a:solidFill>
              <a:srgbClr val="B49450">
                <a:alpha val="3000"/>
              </a:srgbClr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618946" y="6570345"/>
            <a:ext cx="1012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三、管理后台 ·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4" grpId="0"/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64795"/>
            <a:ext cx="3886295" cy="597217"/>
            <a:chOff x="571500" y="264795"/>
            <a:chExt cx="3886295" cy="597217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457200"/>
            </a:xfrm>
            <a:prstGeom prst="roundRect">
              <a:avLst>
                <a:gd name="adj" fmla="val 50000"/>
              </a:avLst>
            </a:prstGeom>
            <a:solidFill>
              <a:srgbClr val="6B273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1520" y="264795"/>
              <a:ext cx="241325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院校与评价管理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48652"/>
              <a:ext cx="37091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学院增删改自动同步 · 评价详情完整展示 · 七大学院全覆盖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238250"/>
            <a:ext cx="5334000" cy="2752725"/>
            <a:chOff x="571500" y="1238250"/>
            <a:chExt cx="5334000" cy="2752725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2476500"/>
            </a:xfrm>
            <a:prstGeom prst="roundRect">
              <a:avLst>
                <a:gd name="adj" fmla="val 5385"/>
              </a:avLst>
            </a:prstGeom>
            <a:solidFill>
              <a:srgbClr val="E5DCCF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238250"/>
              <a:ext cx="5334000" cy="2476500"/>
            </a:xfrm>
            <a:prstGeom prst="roundRect">
              <a:avLst>
                <a:gd name="adj" fmla="val 5384"/>
              </a:avLst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2747010" y="38080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图：院校管理列表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86500" y="1238250"/>
            <a:ext cx="5334000" cy="2752725"/>
            <a:chOff x="6286500" y="1238250"/>
            <a:chExt cx="5334000" cy="2752725"/>
          </a:xfrm>
        </p:grpSpPr>
        <p:sp>
          <p:nvSpPr>
            <p:cNvPr id="11" name="Rectangle 11"/>
            <p:cNvSpPr/>
            <p:nvPr/>
          </p:nvSpPr>
          <p:spPr>
            <a:xfrm>
              <a:off x="6286500" y="1238250"/>
              <a:ext cx="5334000" cy="2476500"/>
            </a:xfrm>
            <a:prstGeom prst="roundRect">
              <a:avLst>
                <a:gd name="adj" fmla="val 5385"/>
              </a:avLst>
            </a:prstGeom>
            <a:solidFill>
              <a:srgbClr val="E5DCCF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500" y="1238250"/>
              <a:ext cx="5334000" cy="2476500"/>
            </a:xfrm>
            <a:prstGeom prst="roundRect">
              <a:avLst>
                <a:gd name="adj" fmla="val 5384"/>
              </a:avLst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8522018" y="3808095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图：评价详情页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4191000"/>
            <a:ext cx="5334000" cy="1016794"/>
            <a:chOff x="571500" y="4191000"/>
            <a:chExt cx="5334000" cy="1016794"/>
          </a:xfrm>
        </p:grpSpPr>
        <p:sp>
          <p:nvSpPr>
            <p:cNvPr id="15" name="Rectangle 15"/>
            <p:cNvSpPr/>
            <p:nvPr/>
          </p:nvSpPr>
          <p:spPr>
            <a:xfrm>
              <a:off x="571500" y="4191000"/>
              <a:ext cx="5334000" cy="952500"/>
            </a:xfrm>
            <a:prstGeom prst="roundRect">
              <a:avLst>
                <a:gd name="adj" fmla="val 14000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81062" y="4481512"/>
              <a:ext cx="142875" cy="152401"/>
              <a:chOff x="881062" y="4481512"/>
              <a:chExt cx="142875" cy="15240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81062" y="4624388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28688" y="4521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28688" y="4552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28688" y="4584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68375" y="4521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68375" y="4552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68375" y="4584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96938" y="448151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0" y="142875"/>
                    </a:move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95250" y="0"/>
                    </a:lnTo>
                    <a:cubicBezTo>
                      <a:pt x="104018" y="0"/>
                      <a:pt x="111125" y="7107"/>
                      <a:pt x="111125" y="15875"/>
                    </a:cubicBezTo>
                    <a:lnTo>
                      <a:pt x="111125" y="142875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147762" y="4336256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七大学院管理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49668" y="4590574"/>
              <a:ext cx="33336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电子信息工程 · 机电工程 · 财经与物流管理 · 环境与食品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49668" y="4800124"/>
              <a:ext cx="17539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汽车工程 · 贸易与旅游 · 艺术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49668" y="5009674"/>
              <a:ext cx="33986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增/改/删同步更新 categories 表，确保首页下拉数据一致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0" y="4191000"/>
            <a:ext cx="5334000" cy="952500"/>
            <a:chOff x="6286500" y="4191000"/>
            <a:chExt cx="5334000" cy="952500"/>
          </a:xfrm>
        </p:grpSpPr>
        <p:sp>
          <p:nvSpPr>
            <p:cNvPr id="30" name="Rectangle 30"/>
            <p:cNvSpPr/>
            <p:nvPr/>
          </p:nvSpPr>
          <p:spPr>
            <a:xfrm>
              <a:off x="6286500" y="4191000"/>
              <a:ext cx="5334000" cy="952500"/>
            </a:xfrm>
            <a:prstGeom prst="roundRect">
              <a:avLst>
                <a:gd name="adj" fmla="val 14000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588181" y="4473591"/>
              <a:ext cx="158528" cy="150757"/>
            </a:xfrm>
            <a:custGeom>
              <a:avLst/>
              <a:gdLst/>
              <a:ahLst/>
              <a:cxnLst/>
              <a:rect l="l" t="t" r="r" b="b"/>
              <a:pathLst>
                <a:path w="158528" h="150757">
                  <a:moveTo>
                    <a:pt x="79319" y="125000"/>
                  </a:moveTo>
                  <a:lnTo>
                    <a:pt x="30329" y="150757"/>
                  </a:lnTo>
                  <a:lnTo>
                    <a:pt x="39687" y="96202"/>
                  </a:lnTo>
                  <a:lnTo>
                    <a:pt x="0" y="57571"/>
                  </a:lnTo>
                  <a:lnTo>
                    <a:pt x="54769" y="49633"/>
                  </a:lnTo>
                  <a:lnTo>
                    <a:pt x="79264" y="0"/>
                  </a:lnTo>
                  <a:lnTo>
                    <a:pt x="103759" y="49633"/>
                  </a:lnTo>
                  <a:lnTo>
                    <a:pt x="158528" y="57571"/>
                  </a:lnTo>
                  <a:lnTo>
                    <a:pt x="118840" y="96202"/>
                  </a:lnTo>
                  <a:lnTo>
                    <a:pt x="128199" y="150757"/>
                  </a:lnTo>
                  <a:lnTo>
                    <a:pt x="79319" y="125000"/>
                  </a:lnTo>
                </a:path>
              </a:pathLst>
            </a:custGeom>
            <a:noFill/>
            <a:ln w="19050">
              <a:solidFill>
                <a:srgbClr val="B4945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62762" y="43362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评价管理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63715" y="4582478"/>
              <a:ext cx="27150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列表展示评价人/书籍/评分/内容摘要/时间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63715" y="4792028"/>
              <a:ext cx="39891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详情：完整评价内容 + 书籍评分（1-5星）+ 服务评分（1-5星）</a:t>
              </a:r>
            </a:p>
          </p:txBody>
        </p:sp>
      </p:grpSp>
      <p:sp>
        <p:nvSpPr>
          <p:cNvPr id="36" name="Ellipse 36"/>
          <p:cNvSpPr/>
          <p:nvPr/>
        </p:nvSpPr>
        <p:spPr>
          <a:xfrm>
            <a:off x="4191000" y="2857500"/>
            <a:ext cx="3810000" cy="3810000"/>
          </a:xfrm>
          <a:prstGeom prst="ellipse">
            <a:avLst/>
          </a:prstGeom>
          <a:noFill/>
          <a:ln w="9525">
            <a:solidFill>
              <a:srgbClr val="6B2737">
                <a:alpha val="3000"/>
              </a:srgbClr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618946" y="6570345"/>
            <a:ext cx="1012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三、管理后台 · 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9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308533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三、技术架构与实现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38200"/>
            <a:ext cx="1524000" cy="28575"/>
          </a:xfrm>
          <a:prstGeom prst="roundRect">
            <a:avLst>
              <a:gd name="adj" fmla="val 50000"/>
            </a:avLst>
          </a:prstGeom>
          <a:solidFill>
            <a:srgbClr val="B4945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3552825" cy="5143500"/>
          </a:xfrm>
          <a:prstGeom prst="roundRect">
            <a:avLst>
              <a:gd name="adj" fmla="val 3753"/>
            </a:avLst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047750"/>
            <a:ext cx="3552825" cy="571500"/>
          </a:xfrm>
          <a:prstGeom prst="roundRect">
            <a:avLst>
              <a:gd name="adj" fmla="val 23333"/>
            </a:avLst>
          </a:prstGeom>
          <a:solidFill>
            <a:srgbClr val="B4945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485900"/>
            <a:ext cx="3552825" cy="133350"/>
          </a:xfrm>
          <a:prstGeom prst="rect">
            <a:avLst/>
          </a:prstGeom>
          <a:solidFill>
            <a:srgbClr val="B4945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913572" y="12477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后端服务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5815" y="1886902"/>
            <a:ext cx="2046922" cy="2042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 xml:space="preserve">• Laravel 5.8 · PHP 7.3.4 </a:t>
            </a: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Blade 模板引擎纯服务端渲染</a:t>
            </a: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Eloquent ORM + 软删除全覆盖</a:t>
            </a: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Service / Repository 分层架构</a:t>
            </a: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 xml:space="preserve">• RESTful JSON API </a:t>
            </a: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 xml:space="preserve">• 18 表 InnoDB + utf8mb4 </a:t>
            </a: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CSRF 保护 + bcrypt 密码加密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14825" y="1047750"/>
            <a:ext cx="3552825" cy="5143500"/>
          </a:xfrm>
          <a:prstGeom prst="roundRect">
            <a:avLst>
              <a:gd name="adj" fmla="val 3753"/>
            </a:avLst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314825" y="1047750"/>
            <a:ext cx="3552825" cy="571500"/>
          </a:xfrm>
          <a:prstGeom prst="roundRect">
            <a:avLst>
              <a:gd name="adj" fmla="val 23333"/>
            </a:avLst>
          </a:prstGeom>
          <a:solidFill>
            <a:srgbClr val="4A6741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4314825" y="1485900"/>
            <a:ext cx="3552825" cy="133350"/>
          </a:xfrm>
          <a:prstGeom prst="rect">
            <a:avLst/>
          </a:prstGeom>
          <a:solidFill>
            <a:srgbClr val="4A674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341858" y="1247775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Web &amp; 管理后台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49140" y="1886902"/>
            <a:ext cx="1813560" cy="2042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Blade 12 页面 + 1 布局模板</a:t>
            </a: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AJAX 搜索 · FormData 上传</a:t>
            </a: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 xml:space="preserve">• fetch API + CSRF Token </a:t>
            </a: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轻奢学院风设计系统</a:t>
            </a: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 xml:space="preserve">• Admin 7 模块 (暖棕侧边栏) </a:t>
            </a: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状态下拉筛选自动提交</a:t>
            </a: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返回按钮 + 面包屑导航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067675" y="1047750"/>
            <a:ext cx="3552825" cy="5143500"/>
          </a:xfrm>
          <a:prstGeom prst="roundRect">
            <a:avLst>
              <a:gd name="adj" fmla="val 3753"/>
            </a:avLst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067675" y="1047750"/>
            <a:ext cx="3552825" cy="571500"/>
          </a:xfrm>
          <a:prstGeom prst="roundRect">
            <a:avLst>
              <a:gd name="adj" fmla="val 23333"/>
            </a:avLst>
          </a:prstGeom>
          <a:solidFill>
            <a:srgbClr val="5B7FBD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8067675" y="1485900"/>
            <a:ext cx="3552825" cy="133350"/>
          </a:xfrm>
          <a:prstGeom prst="rect">
            <a:avLst/>
          </a:prstGeom>
          <a:solidFill>
            <a:srgbClr val="5B7FBD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973943" y="1247775"/>
            <a:ext cx="17498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客户端 &amp; 基础设施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01990" y="1886902"/>
            <a:ext cx="1980247" cy="2042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 xml:space="preserve">• uni-app · Vue 2 Options API </a:t>
            </a: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跨平台 H5 + 小程序双端</a:t>
            </a: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 xml:space="preserve">• 15 页 + 3 tabBar (81x81 PNG) </a:t>
            </a: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safe-image HTTP 图片组件</a:t>
            </a: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两步多图上传流程</a:t>
            </a: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Windows Junction + 兜底路由</a:t>
            </a:r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Git Worktree 隔离开发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77054" y="65893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375742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四、开发关键问题与解决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38200"/>
            <a:ext cx="1524000" cy="28575"/>
          </a:xfrm>
          <a:prstGeom prst="roundRect">
            <a:avLst>
              <a:gd name="adj" fmla="val 50000"/>
            </a:avLst>
          </a:prstGeom>
          <a:solidFill>
            <a:srgbClr val="B4945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11049000" cy="1238250"/>
          </a:xfrm>
          <a:prstGeom prst="roundRect">
            <a:avLst>
              <a:gd name="adj" fmla="val 10769"/>
            </a:avLst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000125"/>
            <a:ext cx="457200" cy="1238250"/>
          </a:xfrm>
          <a:prstGeom prst="roundRect">
            <a:avLst>
              <a:gd name="adj" fmla="val 29167"/>
            </a:avLst>
          </a:prstGeom>
          <a:solidFill>
            <a:srgbClr val="6B2737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95350" y="1000125"/>
            <a:ext cx="133350" cy="1238250"/>
          </a:xfrm>
          <a:prstGeom prst="rect">
            <a:avLst/>
          </a:prstGeom>
          <a:solidFill>
            <a:srgbClr val="6B2737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5612" y="151733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3960" y="1108710"/>
            <a:ext cx="18367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2737"/>
                </a:solidFill>
                <a:latin typeface="Arial"/>
                <a:ea typeface="Microsoft YaHei"/>
                <a:cs typeface="Arial"/>
              </a:rPr>
              <a:t>数据库引擎全部 MyISAM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7770" y="1407795"/>
            <a:ext cx="46794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问题：小皮 MySQL 默认 MyISAM 引擎，无外键约束、无事务支持，数据一致性无保障。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7770" y="1674495"/>
            <a:ext cx="55195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6741"/>
                </a:solidFill>
                <a:latin typeface="Arial"/>
                <a:ea typeface="Microsoft YaHei"/>
                <a:cs typeface="Arial"/>
              </a:rPr>
              <a:t>✓ 解决：修改 database.php engine→InnoDB，14 张表 ALTER 转换，dump 文件全局替换 ENGINE 声明。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2381250"/>
            <a:ext cx="11049000" cy="1238250"/>
          </a:xfrm>
          <a:prstGeom prst="roundRect">
            <a:avLst>
              <a:gd name="adj" fmla="val 10769"/>
            </a:avLst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571500" y="2381250"/>
            <a:ext cx="457200" cy="1238250"/>
          </a:xfrm>
          <a:prstGeom prst="roundRect">
            <a:avLst>
              <a:gd name="adj" fmla="val 29167"/>
            </a:avLst>
          </a:prstGeom>
          <a:solidFill>
            <a:srgbClr val="6B2737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895350" y="2381250"/>
            <a:ext cx="133350" cy="1238250"/>
          </a:xfrm>
          <a:prstGeom prst="rect">
            <a:avLst/>
          </a:prstGeom>
          <a:solidFill>
            <a:srgbClr val="6B273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15612" y="289845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3960" y="2489835"/>
            <a:ext cx="16854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2737"/>
                </a:solidFill>
                <a:latin typeface="Arial"/>
                <a:ea typeface="Microsoft YaHei"/>
                <a:cs typeface="Arial"/>
              </a:rPr>
              <a:t>6 张关联表遗漏软删除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7770" y="2788920"/>
            <a:ext cx="78538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问题：book_images / order_items / order_timeline / reviews / wants / want_fulfillments 缺 deleted_at，删主记录时关联数据永久丢失。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7770" y="3055620"/>
            <a:ext cx="5849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6741"/>
                </a:solidFill>
                <a:latin typeface="Arial"/>
                <a:ea typeface="Microsoft YaHei"/>
                <a:cs typeface="Arial"/>
              </a:rPr>
              <a:t>✓ 解决：全量排查 18 张表，逐表 migration 补 deleted_at 列，Model 加 SoftDeletes trait，级联软删除。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3762375"/>
            <a:ext cx="11049000" cy="1238250"/>
          </a:xfrm>
          <a:prstGeom prst="roundRect">
            <a:avLst>
              <a:gd name="adj" fmla="val 10769"/>
            </a:avLst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71500" y="3762375"/>
            <a:ext cx="457200" cy="1238250"/>
          </a:xfrm>
          <a:prstGeom prst="roundRect">
            <a:avLst>
              <a:gd name="adj" fmla="val 29167"/>
            </a:avLst>
          </a:prstGeom>
          <a:solidFill>
            <a:srgbClr val="6B2737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895350" y="3762375"/>
            <a:ext cx="133350" cy="1238250"/>
          </a:xfrm>
          <a:prstGeom prst="rect">
            <a:avLst/>
          </a:prstGeom>
          <a:solidFill>
            <a:srgbClr val="6B2737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15612" y="427958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03960" y="3870960"/>
            <a:ext cx="18451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2737"/>
                </a:solidFill>
                <a:latin typeface="Arial"/>
                <a:ea typeface="Microsoft YaHei"/>
                <a:cs typeface="Arial"/>
              </a:rPr>
              <a:t>小程序 HTTP 图片被阻断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07770" y="4170045"/>
            <a:ext cx="44874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问题：新版基础库禁止 &lt;image&gt; 加载 HTTP 协议图片，全站书籍封面全部无法显示。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07770" y="4436745"/>
            <a:ext cx="57835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6741"/>
                </a:solidFill>
                <a:latin typeface="Arial"/>
                <a:ea typeface="Microsoft YaHei"/>
                <a:cs typeface="Arial"/>
              </a:rPr>
              <a:t>✓ 解决：封装 safe-image 全局组件，downloadFile 下载到本地临时文件后显示，外层 view 固定宽高包裹。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5143500"/>
            <a:ext cx="11049000" cy="1238250"/>
          </a:xfrm>
          <a:prstGeom prst="roundRect">
            <a:avLst>
              <a:gd name="adj" fmla="val 10769"/>
            </a:avLst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571500" y="5143500"/>
            <a:ext cx="457200" cy="1238250"/>
          </a:xfrm>
          <a:prstGeom prst="roundRect">
            <a:avLst>
              <a:gd name="adj" fmla="val 29167"/>
            </a:avLst>
          </a:prstGeom>
          <a:solidFill>
            <a:srgbClr val="6B2737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895350" y="5143500"/>
            <a:ext cx="133350" cy="1238250"/>
          </a:xfrm>
          <a:prstGeom prst="rect">
            <a:avLst/>
          </a:prstGeom>
          <a:solidFill>
            <a:srgbClr val="6B2737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15612" y="566070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3960" y="5252085"/>
            <a:ext cx="17106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2737"/>
                </a:solidFill>
                <a:latin typeface="Arial"/>
                <a:ea typeface="Microsoft YaHei"/>
                <a:cs typeface="Arial"/>
              </a:rPr>
              <a:t>多图上传只传了第一张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07770" y="5551170"/>
            <a:ext cx="61196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问题：uni.uploadFile 单次仅支持一个文件，原 uploadSequential 只处理了 files[0]，2-5 张照片需求无法满足。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07770" y="5817870"/>
            <a:ext cx="59215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6741"/>
                </a:solidFill>
                <a:latin typeface="Arial"/>
                <a:ea typeface="Microsoft YaHei"/>
                <a:cs typeface="Arial"/>
              </a:rPr>
              <a:t>✓ 解决：两步流程：逐文件 uploadFile → 收集 URL → JSON POST image_urls，后端 BookService 双模式兼容。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77054" y="65893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476554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四、开发关键问题与解决（续）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38200"/>
            <a:ext cx="1524000" cy="28575"/>
          </a:xfrm>
          <a:prstGeom prst="roundRect">
            <a:avLst>
              <a:gd name="adj" fmla="val 50000"/>
            </a:avLst>
          </a:prstGeom>
          <a:solidFill>
            <a:srgbClr val="B4945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11049000" cy="1238250"/>
          </a:xfrm>
          <a:prstGeom prst="roundRect">
            <a:avLst>
              <a:gd name="adj" fmla="val 10769"/>
            </a:avLst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000125"/>
            <a:ext cx="457200" cy="1238250"/>
          </a:xfrm>
          <a:prstGeom prst="roundRect">
            <a:avLst>
              <a:gd name="adj" fmla="val 29167"/>
            </a:avLst>
          </a:prstGeom>
          <a:solidFill>
            <a:srgbClr val="6B2737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95350" y="1000125"/>
            <a:ext cx="133350" cy="1238250"/>
          </a:xfrm>
          <a:prstGeom prst="rect">
            <a:avLst/>
          </a:prstGeom>
          <a:solidFill>
            <a:srgbClr val="6B2737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5612" y="151733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3960" y="1108710"/>
            <a:ext cx="13662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2737"/>
                </a:solidFill>
                <a:latin typeface="Arial"/>
                <a:ea typeface="Microsoft YaHei"/>
                <a:cs typeface="Arial"/>
              </a:rPr>
              <a:t>N+1 查询性能瓶颈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7770" y="1407795"/>
            <a:ext cx="7049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问题：求购列表 fulfillments count 循环逐行 SQL；AuthController::me() 订单统计 4 次独立 COUNT；首页分类+书籍串行加载。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7770" y="1674495"/>
            <a:ext cx="64376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6741"/>
                </a:solidFill>
                <a:latin typeface="Arial"/>
                <a:ea typeface="Microsoft YaHei"/>
                <a:cs typeface="Arial"/>
              </a:rPr>
              <a:t>✓ 解决：withCount('fulfillments') 预加载计数；订单统计 GROUP BY status 一次查询；分类+书籍并行 eager load。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2381250"/>
            <a:ext cx="11049000" cy="1238250"/>
          </a:xfrm>
          <a:prstGeom prst="roundRect">
            <a:avLst>
              <a:gd name="adj" fmla="val 10769"/>
            </a:avLst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571500" y="2381250"/>
            <a:ext cx="457200" cy="1238250"/>
          </a:xfrm>
          <a:prstGeom prst="roundRect">
            <a:avLst>
              <a:gd name="adj" fmla="val 29167"/>
            </a:avLst>
          </a:prstGeom>
          <a:solidFill>
            <a:srgbClr val="6B2737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895350" y="2381250"/>
            <a:ext cx="133350" cy="1238250"/>
          </a:xfrm>
          <a:prstGeom prst="rect">
            <a:avLst/>
          </a:prstGeom>
          <a:solidFill>
            <a:srgbClr val="6B273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15612" y="289845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3960" y="2489835"/>
            <a:ext cx="29204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2737"/>
                </a:solidFill>
                <a:latin typeface="Arial"/>
                <a:ea typeface="Microsoft YaHei"/>
                <a:cs typeface="Arial"/>
              </a:rPr>
              <a:t>Blade @csrf 在 HTML 属性中破坏 DOM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7770" y="2788920"/>
            <a:ext cx="48294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问题：onclick 属性内 @csrf 生成的引号闭合了属性，导致 JS 执行失败、DOM 结构异常。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7770" y="3055620"/>
            <a:ext cx="38753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6741"/>
                </a:solidFill>
                <a:latin typeface="Arial"/>
                <a:ea typeface="Microsoft YaHei"/>
                <a:cs typeface="Arial"/>
              </a:rPr>
              <a:t>✓ 解决：改用 csrf_token() 输出纯 token 值，手动拼接无引号 HTML。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3762375"/>
            <a:ext cx="11049000" cy="1238250"/>
          </a:xfrm>
          <a:prstGeom prst="roundRect">
            <a:avLst>
              <a:gd name="adj" fmla="val 10769"/>
            </a:avLst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71500" y="3762375"/>
            <a:ext cx="457200" cy="1238250"/>
          </a:xfrm>
          <a:prstGeom prst="roundRect">
            <a:avLst>
              <a:gd name="adj" fmla="val 29167"/>
            </a:avLst>
          </a:prstGeom>
          <a:solidFill>
            <a:srgbClr val="6B2737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895350" y="3762375"/>
            <a:ext cx="133350" cy="1238250"/>
          </a:xfrm>
          <a:prstGeom prst="rect">
            <a:avLst/>
          </a:prstGeom>
          <a:solidFill>
            <a:srgbClr val="6B2737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15612" y="427958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03960" y="3870960"/>
            <a:ext cx="27776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2737"/>
                </a:solidFill>
                <a:latin typeface="Arial"/>
                <a:ea typeface="Microsoft YaHei"/>
                <a:cs typeface="Arial"/>
              </a:rPr>
              <a:t>books.status ENUM 缺 rejected 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07770" y="4170045"/>
            <a:ext cx="59335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问题：Migration 枚举仅 5 个值（缺 rejected），reject() 设 rejected 被 MySQL 截断报 Data truncated。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07770" y="4436745"/>
            <a:ext cx="55315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6741"/>
                </a:solidFill>
                <a:latin typeface="Arial"/>
                <a:ea typeface="Microsoft YaHei"/>
                <a:cs typeface="Arial"/>
              </a:rPr>
              <a:t>✓ 解决：ALTER TABLE 补 rejected 枚举值 + migration 同步更新，rejected 与 removed 双状态独立。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5143500"/>
            <a:ext cx="11049000" cy="1238250"/>
          </a:xfrm>
          <a:prstGeom prst="roundRect">
            <a:avLst>
              <a:gd name="adj" fmla="val 10769"/>
            </a:avLst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571500" y="5143500"/>
            <a:ext cx="457200" cy="1238250"/>
          </a:xfrm>
          <a:prstGeom prst="roundRect">
            <a:avLst>
              <a:gd name="adj" fmla="val 29167"/>
            </a:avLst>
          </a:prstGeom>
          <a:solidFill>
            <a:srgbClr val="6B2737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895350" y="5143500"/>
            <a:ext cx="133350" cy="1238250"/>
          </a:xfrm>
          <a:prstGeom prst="rect">
            <a:avLst/>
          </a:prstGeom>
          <a:solidFill>
            <a:srgbClr val="6B2737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15612" y="566070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8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3960" y="5252085"/>
            <a:ext cx="19039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2737"/>
                </a:solidFill>
                <a:latin typeface="Arial"/>
                <a:ea typeface="Microsoft YaHei"/>
                <a:cs typeface="Arial"/>
              </a:rPr>
              <a:t>Web 端评价功能从未上线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07770" y="5551170"/>
            <a:ext cx="61316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问题：API + ReviewService 代码完整，但 Blade 路由、Controller@review 方法、订单详情页评价表单全部缺失。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07770" y="5817870"/>
            <a:ext cx="61916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6741"/>
                </a:solidFill>
                <a:latin typeface="Arial"/>
                <a:ea typeface="Microsoft YaHei"/>
                <a:cs typeface="Arial"/>
              </a:rPr>
              <a:t>✓ 解决：补全三层：路由 POST /orders/{id}/review + Controller 方法 + Blade 星级评价表单，端到端测试验证。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77054" y="65893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308533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五、下一步优化计划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38200"/>
            <a:ext cx="1524000" cy="28575"/>
          </a:xfrm>
          <a:prstGeom prst="roundRect">
            <a:avLst>
              <a:gd name="adj" fmla="val 50000"/>
            </a:avLst>
          </a:prstGeom>
          <a:solidFill>
            <a:srgbClr val="B49450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571500" y="1047750"/>
            <a:ext cx="2114550" cy="5143500"/>
            <a:chOff x="571500" y="1047750"/>
            <a:chExt cx="2114550" cy="5143500"/>
          </a:xfrm>
        </p:grpSpPr>
        <p:sp>
          <p:nvSpPr>
            <p:cNvPr id="6" name="Rectangle 6"/>
            <p:cNvSpPr/>
            <p:nvPr/>
          </p:nvSpPr>
          <p:spPr>
            <a:xfrm>
              <a:off x="571500" y="1047750"/>
              <a:ext cx="2114550" cy="5143500"/>
            </a:xfrm>
            <a:prstGeom prst="roundRect">
              <a:avLst>
                <a:gd name="adj" fmla="val 6306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047750"/>
              <a:ext cx="2114550" cy="495300"/>
            </a:xfrm>
            <a:prstGeom prst="roundRect">
              <a:avLst>
                <a:gd name="adj" fmla="val 26923"/>
              </a:avLst>
            </a:prstGeom>
            <a:solidFill>
              <a:srgbClr val="B4945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409700"/>
              <a:ext cx="2114550" cy="133350"/>
            </a:xfrm>
            <a:prstGeom prst="rect">
              <a:avLst/>
            </a:prstGeom>
            <a:solidFill>
              <a:srgbClr val="B4945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99448" y="12406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技术升级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1522" y="1815941"/>
              <a:ext cx="1236345" cy="1196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 xml:space="preserve">Laravel 5.8 → 10+ </a:t>
              </a: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 xml:space="preserve">PHP 7.3 → 8.1+ (JIT) </a:t>
              </a: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MySQL 慢查询 + 索引优化</a:t>
              </a: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Laravel Horizon 队列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28925" y="1047750"/>
            <a:ext cx="2114550" cy="5143500"/>
            <a:chOff x="2828925" y="1047750"/>
            <a:chExt cx="2114550" cy="5143500"/>
          </a:xfrm>
        </p:grpSpPr>
        <p:sp>
          <p:nvSpPr>
            <p:cNvPr id="12" name="Rectangle 12"/>
            <p:cNvSpPr/>
            <p:nvPr/>
          </p:nvSpPr>
          <p:spPr>
            <a:xfrm>
              <a:off x="2828925" y="1047750"/>
              <a:ext cx="2114550" cy="5143500"/>
            </a:xfrm>
            <a:prstGeom prst="roundRect">
              <a:avLst>
                <a:gd name="adj" fmla="val 6306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828925" y="1047750"/>
              <a:ext cx="2114550" cy="495300"/>
            </a:xfrm>
            <a:prstGeom prst="roundRect">
              <a:avLst>
                <a:gd name="adj" fmla="val 26923"/>
              </a:avLst>
            </a:prstGeom>
            <a:solidFill>
              <a:srgbClr val="4A6741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828925" y="1409700"/>
              <a:ext cx="2114550" cy="133350"/>
            </a:xfrm>
            <a:prstGeom prst="rect">
              <a:avLst/>
            </a:prstGeom>
            <a:solidFill>
              <a:srgbClr val="4A674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78113" y="124063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支付与结算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08948" y="1815941"/>
              <a:ext cx="995362" cy="1196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微信支付 JSAPI 集成</a:t>
              </a: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订单 30min 超时取消</a:t>
              </a: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卖家结算对账 + 抽成</a:t>
              </a: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退款流程 + 安全审计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86350" y="1047750"/>
            <a:ext cx="2114550" cy="5143500"/>
            <a:chOff x="5086350" y="1047750"/>
            <a:chExt cx="2114550" cy="5143500"/>
          </a:xfrm>
        </p:grpSpPr>
        <p:sp>
          <p:nvSpPr>
            <p:cNvPr id="18" name="Rectangle 18"/>
            <p:cNvSpPr/>
            <p:nvPr/>
          </p:nvSpPr>
          <p:spPr>
            <a:xfrm>
              <a:off x="5086350" y="1047750"/>
              <a:ext cx="2114550" cy="5143500"/>
            </a:xfrm>
            <a:prstGeom prst="roundRect">
              <a:avLst>
                <a:gd name="adj" fmla="val 6306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086350" y="1047750"/>
              <a:ext cx="2114550" cy="495300"/>
            </a:xfrm>
            <a:prstGeom prst="roundRect">
              <a:avLst>
                <a:gd name="adj" fmla="val 26923"/>
              </a:avLst>
            </a:prstGeom>
            <a:solidFill>
              <a:srgbClr val="5B7FBD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086350" y="1409700"/>
              <a:ext cx="2114550" cy="133350"/>
            </a:xfrm>
            <a:prstGeom prst="rect">
              <a:avLst/>
            </a:prstGeom>
            <a:solidFill>
              <a:srgbClr val="5B7FBD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735538" y="124063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搜索与推荐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66372" y="1815941"/>
              <a:ext cx="1047750" cy="1196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Meilisearch 全文搜索</a:t>
              </a: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学院+专业智能推荐</a:t>
              </a: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销售趋势 + 热门排行</a:t>
              </a: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数据看板 (Chart.js)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343775" y="1047750"/>
            <a:ext cx="2114550" cy="5143500"/>
            <a:chOff x="7343775" y="1047750"/>
            <a:chExt cx="2114550" cy="5143500"/>
          </a:xfrm>
        </p:grpSpPr>
        <p:sp>
          <p:nvSpPr>
            <p:cNvPr id="24" name="Rectangle 24"/>
            <p:cNvSpPr/>
            <p:nvPr/>
          </p:nvSpPr>
          <p:spPr>
            <a:xfrm>
              <a:off x="7343775" y="1047750"/>
              <a:ext cx="2114550" cy="5143500"/>
            </a:xfrm>
            <a:prstGeom prst="roundRect">
              <a:avLst>
                <a:gd name="adj" fmla="val 6306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43775" y="1047750"/>
              <a:ext cx="2114550" cy="495300"/>
            </a:xfrm>
            <a:prstGeom prst="roundRect">
              <a:avLst>
                <a:gd name="adj" fmla="val 26923"/>
              </a:avLst>
            </a:prstGeom>
            <a:solidFill>
              <a:srgbClr val="6B273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343775" y="1409700"/>
              <a:ext cx="2114550" cy="133350"/>
            </a:xfrm>
            <a:prstGeom prst="rect">
              <a:avLst/>
            </a:prstGeom>
            <a:solidFill>
              <a:srgbClr val="6B273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92963" y="124063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体验与通知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23798" y="1815941"/>
              <a:ext cx="1047750" cy="1196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模板消息订单通知</a:t>
              </a: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状态变更实时推送</a:t>
              </a: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图片 CDN + WebP 格式</a:t>
              </a: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关键页面本地缓存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601200" y="1047750"/>
            <a:ext cx="2114550" cy="5143500"/>
            <a:chOff x="9601200" y="1047750"/>
            <a:chExt cx="2114550" cy="5143500"/>
          </a:xfrm>
        </p:grpSpPr>
        <p:sp>
          <p:nvSpPr>
            <p:cNvPr id="30" name="Rectangle 30"/>
            <p:cNvSpPr/>
            <p:nvPr/>
          </p:nvSpPr>
          <p:spPr>
            <a:xfrm>
              <a:off x="9601200" y="1047750"/>
              <a:ext cx="2114550" cy="5143500"/>
            </a:xfrm>
            <a:prstGeom prst="roundRect">
              <a:avLst>
                <a:gd name="adj" fmla="val 6306"/>
              </a:avLst>
            </a:pr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601200" y="1047750"/>
              <a:ext cx="2114550" cy="495300"/>
            </a:xfrm>
            <a:prstGeom prst="roundRect">
              <a:avLst>
                <a:gd name="adj" fmla="val 26923"/>
              </a:avLst>
            </a:prstGeom>
            <a:solidFill>
              <a:srgbClr val="8B6914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601200" y="1409700"/>
              <a:ext cx="2114550" cy="133350"/>
            </a:xfrm>
            <a:prstGeom prst="rect">
              <a:avLst/>
            </a:prstGeom>
            <a:solidFill>
              <a:srgbClr val="8B691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329148" y="12406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质量保障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81222" y="1815941"/>
              <a:ext cx="1142047" cy="1196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PHPUnit ≥80% 覆盖</a:t>
              </a: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Playwright E2E 测试</a:t>
              </a: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 xml:space="preserve">GitHub Actions CI/CD </a:t>
              </a:r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Sentry/Telescope APM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477054" y="65893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20772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平台能力总览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38200"/>
            <a:ext cx="1524000" cy="28575"/>
          </a:xfrm>
          <a:prstGeom prst="roundRect">
            <a:avLst>
              <a:gd name="adj" fmla="val 50000"/>
            </a:avLst>
          </a:prstGeom>
          <a:solidFill>
            <a:srgbClr val="B4945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3552825" cy="2000250"/>
          </a:xfrm>
          <a:prstGeom prst="roundRect">
            <a:avLst>
              <a:gd name="adj" fmla="val 6667"/>
            </a:avLst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095375"/>
            <a:ext cx="3552825" cy="38100"/>
          </a:xfrm>
          <a:prstGeom prst="roundRect">
            <a:avLst>
              <a:gd name="adj" fmla="val 50000"/>
            </a:avLst>
          </a:prstGeom>
          <a:solidFill>
            <a:srgbClr val="B4945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590913" y="148780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B49450"/>
                </a:solidFill>
                <a:latin typeface="Georgia"/>
                <a:ea typeface="KaiTi"/>
                <a:cs typeface="Georgia"/>
              </a:rPr>
              <a:t>全平台覆盖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73352" y="2108835"/>
            <a:ext cx="13586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Web 端 + 管理后台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85366" y="23469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uni-app 跨平台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14825" y="1095375"/>
            <a:ext cx="3552825" cy="2000250"/>
          </a:xfrm>
          <a:prstGeom prst="roundRect">
            <a:avLst>
              <a:gd name="adj" fmla="val 6667"/>
            </a:avLst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314825" y="1095375"/>
            <a:ext cx="3552825" cy="38100"/>
          </a:xfrm>
          <a:prstGeom prst="roundRect">
            <a:avLst>
              <a:gd name="adj" fmla="val 50000"/>
            </a:avLst>
          </a:prstGeom>
          <a:solidFill>
            <a:srgbClr val="4A674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275431" y="1487805"/>
            <a:ext cx="164113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4A6741"/>
                </a:solidFill>
                <a:latin typeface="Georgia"/>
                <a:ea typeface="KaiTi"/>
                <a:cs typeface="Georgia"/>
              </a:rPr>
              <a:t>18 张数据表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20678" y="2108835"/>
            <a:ext cx="13506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InnoDB + utf8mb4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00700" y="2346960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软删除全覆盖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067675" y="1095375"/>
            <a:ext cx="3552825" cy="2000250"/>
          </a:xfrm>
          <a:prstGeom prst="roundRect">
            <a:avLst>
              <a:gd name="adj" fmla="val 6667"/>
            </a:avLst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067675" y="1095375"/>
            <a:ext cx="3552825" cy="38100"/>
          </a:xfrm>
          <a:prstGeom prst="roundRect">
            <a:avLst>
              <a:gd name="adj" fmla="val 50000"/>
            </a:avLst>
          </a:prstGeom>
          <a:solidFill>
            <a:srgbClr val="5B7FB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256159" y="1487805"/>
            <a:ext cx="11853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5B7FBD"/>
                </a:solidFill>
                <a:latin typeface="Georgia"/>
                <a:ea typeface="KaiTi"/>
                <a:cs typeface="Georgia"/>
              </a:rPr>
              <a:t>7 大学院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49487" y="2108835"/>
            <a:ext cx="19987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电子信息 · 机电 · 财经物流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97456" y="2346960"/>
            <a:ext cx="25027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环境食品 · 汽车 · 贸易旅游 · 艺术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3286125"/>
            <a:ext cx="3552825" cy="2000250"/>
          </a:xfrm>
          <a:prstGeom prst="roundRect">
            <a:avLst>
              <a:gd name="adj" fmla="val 6667"/>
            </a:avLst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571500" y="3286125"/>
            <a:ext cx="3552825" cy="38100"/>
          </a:xfrm>
          <a:prstGeom prst="roundRect">
            <a:avLst>
              <a:gd name="adj" fmla="val 50000"/>
            </a:avLst>
          </a:prstGeom>
          <a:solidFill>
            <a:srgbClr val="6B2737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532106" y="3678555"/>
            <a:ext cx="164113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6B2737"/>
                </a:solidFill>
                <a:latin typeface="Georgia"/>
                <a:ea typeface="KaiTi"/>
                <a:cs typeface="Georgia"/>
              </a:rPr>
              <a:t>47 个功能点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21320" y="4299585"/>
            <a:ext cx="18627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搜索 · 详情 · 购买 · 卖书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1320" y="4537710"/>
            <a:ext cx="18627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求购 · 订单 · 评价 · 审核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314825" y="3286125"/>
            <a:ext cx="3552825" cy="2000250"/>
          </a:xfrm>
          <a:prstGeom prst="roundRect">
            <a:avLst>
              <a:gd name="adj" fmla="val 6667"/>
            </a:avLst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4314825" y="3286125"/>
            <a:ext cx="3552825" cy="38100"/>
          </a:xfrm>
          <a:prstGeom prst="roundRect">
            <a:avLst>
              <a:gd name="adj" fmla="val 50000"/>
            </a:avLst>
          </a:prstGeom>
          <a:solidFill>
            <a:srgbClr val="8B6914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334238" y="36785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8B6914"/>
                </a:solidFill>
                <a:latin typeface="Georgia"/>
                <a:ea typeface="KaiTi"/>
                <a:cs typeface="Georgia"/>
              </a:rPr>
              <a:t>轻奢学院风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36667" y="4299585"/>
            <a:ext cx="15186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香槟金 + 暖棕 + 酒红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864608" y="4537710"/>
            <a:ext cx="24627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Cormorant Garamond + 霞鹜文楷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67675" y="3286125"/>
            <a:ext cx="3552825" cy="2000250"/>
          </a:xfrm>
          <a:prstGeom prst="roundRect">
            <a:avLst>
              <a:gd name="adj" fmla="val 6667"/>
            </a:avLst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067675" y="3286125"/>
            <a:ext cx="3552825" cy="38100"/>
          </a:xfrm>
          <a:prstGeom prst="roundRect">
            <a:avLst>
              <a:gd name="adj" fmla="val 50000"/>
            </a:avLst>
          </a:prstGeom>
          <a:solidFill>
            <a:srgbClr val="B4945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234106" y="36785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B49450"/>
                </a:solidFill>
                <a:latin typeface="Georgia"/>
                <a:ea typeface="KaiTi"/>
                <a:cs typeface="Georgia"/>
              </a:rPr>
              <a:t>全栈自研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717470" y="4299585"/>
            <a:ext cx="22627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Laravel 5.8 + Blade + uni-app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01531" y="4537710"/>
            <a:ext cx="12946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MySQL + uni-app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476875"/>
            <a:ext cx="11049000" cy="533400"/>
          </a:xfrm>
          <a:prstGeom prst="roundRect">
            <a:avLst>
              <a:gd name="adj" fmla="val 21429"/>
            </a:avLst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3985418" y="5683568"/>
            <a:ext cx="42211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49450"/>
                </a:solidFill>
                <a:latin typeface="Arial"/>
                <a:ea typeface="Microsoft YaHei"/>
                <a:cs typeface="Arial"/>
              </a:rPr>
              <a:t>Laravel 5.8 + Blade + uni-app (Vue 2) + MySQL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77054" y="65893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10000"/>
                </a:srgbClr>
              </a:gs>
              <a:gs pos="100000">
                <a:srgbClr val="B4945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4191000" y="2095500"/>
            <a:ext cx="3810000" cy="9525"/>
          </a:xfrm>
          <a:prstGeom prst="rect">
            <a:avLst/>
          </a:prstGeom>
          <a:solidFill>
            <a:srgbClr val="E5DCC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66375" y="2404110"/>
            <a:ext cx="1459249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B49450"/>
                </a:solidFill>
                <a:latin typeface="Georgia"/>
                <a:ea typeface="KaiTi"/>
                <a:cs typeface="Georgia"/>
              </a:rPr>
              <a:t>谢 谢</a:t>
            </a:r>
          </a:p>
        </p:txBody>
      </p:sp>
      <p:sp>
        <p:nvSpPr>
          <p:cNvPr id="6" name="Polygon 6"/>
          <p:cNvSpPr/>
          <p:nvPr/>
        </p:nvSpPr>
        <p:spPr>
          <a:xfrm>
            <a:off x="6000750" y="3190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190500" y="95250"/>
                </a:lnTo>
                <a:lnTo>
                  <a:pt x="95250" y="190500"/>
                </a:lnTo>
                <a:lnTo>
                  <a:pt x="0" y="95250"/>
                </a:lnTo>
                <a:close/>
              </a:path>
            </a:pathLst>
          </a:custGeom>
          <a:solidFill>
            <a:srgbClr val="B49450">
              <a:alpha val="5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993005" y="3615690"/>
            <a:ext cx="22059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校园二手书交易平台</a:t>
            </a:r>
          </a:p>
        </p:txBody>
      </p:sp>
      <p:sp>
        <p:nvSpPr>
          <p:cNvPr id="8" name="Rectangle 8"/>
          <p:cNvSpPr/>
          <p:nvPr/>
        </p:nvSpPr>
        <p:spPr>
          <a:xfrm>
            <a:off x="4191000" y="4095750"/>
            <a:ext cx="3810000" cy="9525"/>
          </a:xfrm>
          <a:prstGeom prst="rect">
            <a:avLst/>
          </a:prstGeom>
          <a:solidFill>
            <a:srgbClr val="E5DCC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416677" y="4537710"/>
            <a:ext cx="13586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Web 端 · 管理后台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87116" y="4839652"/>
            <a:ext cx="8177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2026 年 6 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77054" y="65893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2026-06-26T12:24:10Z</dcterms:created>
  <dcterms:modified xsi:type="dcterms:W3CDTF">2026-06-26T12:24:10Z</dcterms:modified>
  <cp:category/>
  <cp:contentStatus/>
</cp:coreProperties>
</file>