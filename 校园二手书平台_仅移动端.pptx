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1db6ca63b7957a0.png"/>
  <Relationship Id="rId3" Type="http://schemas.openxmlformats.org/officeDocument/2006/relationships/image" Target="../media/image_94c502b6133c9d2d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3a3c0b80da48284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de87d415a61cb2f.png"/>
  <Relationship Id="rId3" Type="http://schemas.openxmlformats.org/officeDocument/2006/relationships/image" Target="../media/image_e912f9f764479339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f80e541b29cebb1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64ef5906db686f6.png"/>
  <Relationship Id="rId3" Type="http://schemas.openxmlformats.org/officeDocument/2006/relationships/image" Target="../media/image_2fe61cebfe5e2816.png"/>
  <Relationship Id="rId4" Type="http://schemas.openxmlformats.org/officeDocument/2006/relationships/image" Target="../media/image_33d5a7a3bd751cf8.png"/>
  <Relationship Id="rId5" Type="http://schemas.openxmlformats.org/officeDocument/2006/relationships/image" Target="../media/image_6279e876f434ec58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2f1a81dd9276dd8.png"/>
  <Relationship Id="rId3" Type="http://schemas.openxmlformats.org/officeDocument/2006/relationships/image" Target="../media/image_26dc4857af6b2233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45c244c32e8c67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e4727632cfaa923.png"/>
  <Relationship Id="rId3" Type="http://schemas.openxmlformats.org/officeDocument/2006/relationships/image" Target="../media/image_9ac47126b35effc0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2416"/>
              </a:gs>
              <a:gs pos="40000">
                <a:srgbClr val="3D3020"/>
              </a:gs>
              <a:gs pos="100000">
                <a:srgbClr val="2C241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10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-762000" y="-762000"/>
            <a:ext cx="14382750" cy="8667750"/>
            <a:chOff x="-762000" y="-762000"/>
            <a:chExt cx="14382750" cy="8667750"/>
          </a:xfrm>
        </p:grpSpPr>
        <p:sp>
          <p:nvSpPr>
            <p:cNvPr id="4" name="Ellipse 4"/>
            <p:cNvSpPr/>
            <p:nvPr/>
          </p:nvSpPr>
          <p:spPr>
            <a:xfrm>
              <a:off x="8286750" y="-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B49450">
                  <a:alpha val="6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48750" y="0"/>
              <a:ext cx="3810000" cy="3810000"/>
            </a:xfrm>
            <a:prstGeom prst="ellipse">
              <a:avLst/>
            </a:prstGeom>
            <a:noFill/>
            <a:ln w="9525">
              <a:solidFill>
                <a:srgbClr val="B49450">
                  <a:alpha val="8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810750" y="762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B49450">
                  <a:alpha val="10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-762000" y="4476750"/>
              <a:ext cx="3429000" cy="3429000"/>
            </a:xfrm>
            <a:prstGeom prst="ellipse">
              <a:avLst/>
            </a:prstGeom>
            <a:noFill/>
            <a:ln w="9525">
              <a:solidFill>
                <a:srgbClr val="B49450">
                  <a:alpha val="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-190500" y="5048250"/>
              <a:ext cx="2286000" cy="2286000"/>
            </a:xfrm>
            <a:prstGeom prst="ellipse">
              <a:avLst/>
            </a:prstGeom>
            <a:noFill/>
            <a:ln w="9525">
              <a:solidFill>
                <a:srgbClr val="B49450">
                  <a:alpha val="7000"/>
                </a:srgbClr>
              </a:solidFill>
            </a:ln>
          </p:spPr>
        </p:sp>
      </p:grpSp>
      <p:sp>
        <p:nvSpPr>
          <p:cNvPr id="10" name="Line 10"/>
          <p:cNvSpPr/>
          <p:nvPr/>
        </p:nvSpPr>
        <p:spPr>
          <a:xfrm>
            <a:off x="3238500" y="3524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19050">
            <a:gradFill>
              <a:gsLst>
                <a:gs pos="0">
                  <a:srgbClr val="B49450">
                    <a:alpha val="0"/>
                  </a:srgbClr>
                </a:gs>
                <a:gs pos="30000">
                  <a:srgbClr val="B49450">
                    <a:alpha val="60000"/>
                  </a:srgbClr>
                </a:gs>
                <a:gs pos="50000">
                  <a:srgbClr val="D4BC7C"/>
                </a:gs>
                <a:gs pos="70000">
                  <a:srgbClr val="B49450">
                    <a:alpha val="60000"/>
                  </a:srgbClr>
                </a:gs>
                <a:gs pos="100000">
                  <a:srgbClr val="B49450">
                    <a:alpha val="0"/>
                  </a:srgbClr>
                </a:gs>
              </a:gsLst>
              <a:lin ang="0" scaled="1"/>
            </a:gradFill>
          </a:ln>
        </p:spPr>
      </p:sp>
      <p:grpSp>
        <p:nvGrpSpPr>
          <p:cNvPr id="13" name="Group 13"/>
          <p:cNvGrpSpPr/>
          <p:nvPr/>
        </p:nvGrpSpPr>
        <p:grpSpPr>
          <a:xfrm>
            <a:off x="2721412" y="2100262"/>
            <a:ext cx="6749177" cy="1390650"/>
            <a:chOff x="2721412" y="2100262"/>
            <a:chExt cx="6749177" cy="1390650"/>
          </a:xfrm>
        </p:grpSpPr>
        <p:sp>
          <p:nvSpPr>
            <p:cNvPr id="11" name="TextBox 11"/>
            <p:cNvSpPr txBox="1"/>
            <p:nvPr/>
          </p:nvSpPr>
          <p:spPr>
            <a:xfrm>
              <a:off x="2721412" y="2100262"/>
              <a:ext cx="6749177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校园二手书交易平台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74908" y="3155632"/>
              <a:ext cx="2242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49450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移动端（微信小程序）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44568" y="5680710"/>
            <a:ext cx="3102864" cy="610552"/>
            <a:chOff x="4544568" y="5680710"/>
            <a:chExt cx="3102864" cy="610552"/>
          </a:xfrm>
        </p:grpSpPr>
        <p:sp>
          <p:nvSpPr>
            <p:cNvPr id="14" name="TextBox 14"/>
            <p:cNvSpPr txBox="1"/>
            <p:nvPr/>
          </p:nvSpPr>
          <p:spPr>
            <a:xfrm>
              <a:off x="4544568" y="5680710"/>
              <a:ext cx="31028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uni-app · Vue 2 Options API · 微信小程序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50123" y="60779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478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2026年6月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62000" y="476250"/>
            <a:ext cx="10668000" cy="762000"/>
            <a:chOff x="762000" y="476250"/>
            <a:chExt cx="10668000" cy="762000"/>
          </a:xfrm>
        </p:grpSpPr>
        <p:sp>
          <p:nvSpPr>
            <p:cNvPr id="3" name="Freeform 3"/>
            <p:cNvSpPr/>
            <p:nvPr/>
          </p:nvSpPr>
          <p:spPr>
            <a:xfrm>
              <a:off x="762000" y="533400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28650"/>
                  </a:lnTo>
                  <a:cubicBezTo>
                    <a:pt x="38100" y="639171"/>
                    <a:pt x="29571" y="647700"/>
                    <a:pt x="19050" y="647700"/>
                  </a:cubicBezTo>
                  <a:lnTo>
                    <a:pt x="19050" y="647700"/>
                  </a:lnTo>
                  <a:cubicBezTo>
                    <a:pt x="8529" y="647700"/>
                    <a:pt x="0" y="639171"/>
                    <a:pt x="0" y="6286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5600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980599"/>
              <a:ext cx="21134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移动端 · 微信小程序 · 全功能覆盖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906000" y="476250"/>
              <a:ext cx="1524000" cy="762000"/>
              <a:chOff x="9906000" y="476250"/>
              <a:chExt cx="1524000" cy="762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906000" y="476250"/>
                <a:ext cx="1524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762000">
                    <a:moveTo>
                      <a:pt x="133350" y="0"/>
                    </a:moveTo>
                    <a:lnTo>
                      <a:pt x="1390650" y="0"/>
                    </a:lnTo>
                    <a:cubicBezTo>
                      <a:pt x="1464297" y="0"/>
                      <a:pt x="1524000" y="59703"/>
                      <a:pt x="1524000" y="133350"/>
                    </a:cubicBezTo>
                    <a:lnTo>
                      <a:pt x="1524000" y="628650"/>
                    </a:lnTo>
                    <a:cubicBezTo>
                      <a:pt x="1524000" y="702297"/>
                      <a:pt x="1464297" y="762000"/>
                      <a:pt x="1390650" y="762000"/>
                    </a:cubicBezTo>
                    <a:lnTo>
                      <a:pt x="133350" y="762000"/>
                    </a:lnTo>
                    <a:cubicBezTo>
                      <a:pt x="59703" y="762000"/>
                      <a:pt x="0" y="702297"/>
                      <a:pt x="0" y="628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DF9"/>
              </a:solidFill>
              <a:ln w="9525">
                <a:solidFill>
                  <a:srgbClr val="E5DCC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84676" y="579120"/>
                <a:ext cx="76664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16</a:t>
                </a:r>
                <a:r>
                  <a:rPr lang="zh-CN" sz="1350" b="1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页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368736" y="977741"/>
                <a:ext cx="59852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C8478"/>
                    </a:solidFill>
                    <a:latin typeface="Arial"/>
                    <a:ea typeface="Microsoft YaHei"/>
                    <a:cs typeface="Arial"/>
                  </a:rPr>
                  <a:t>移动端功能</a:t>
                </a:r>
              </a:p>
            </p:txBody>
          </p:sp>
        </p:grpSp>
      </p:grpSp>
      <p:sp>
        <p:nvSpPr>
          <p:cNvPr id="11" name="Line 11"/>
          <p:cNvSpPr/>
          <p:nvPr/>
        </p:nvSpPr>
        <p:spPr>
          <a:xfrm>
            <a:off x="762000" y="1524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E5DCCF"/>
            </a:solidFill>
          </a:ln>
        </p:spPr>
      </p:sp>
      <p:sp>
        <p:nvSpPr>
          <p:cNvPr id="12" name="Line 12"/>
          <p:cNvSpPr/>
          <p:nvPr/>
        </p:nvSpPr>
        <p:spPr>
          <a:xfrm>
            <a:off x="1238250" y="1809750"/>
            <a:ext cx="9525" cy="4286250"/>
          </a:xfrm>
          <a:custGeom>
            <a:avLst/>
            <a:gdLst/>
            <a:ahLst/>
            <a:cxnLst/>
            <a:rect l="l" t="t" r="r" b="b"/>
            <a:pathLst>
              <a:path w="952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28575" cap="rnd">
            <a:gradFill>
              <a:gsLst>
                <a:gs pos="0">
                  <a:srgbClr val="B49450"/>
                </a:gs>
                <a:gs pos="100000">
                  <a:srgbClr val="8B3A4A"/>
                </a:gs>
              </a:gsLst>
              <a:lin ang="5400000" scaled="1"/>
            </a:gradFill>
          </a:ln>
        </p:spPr>
      </p:sp>
      <p:grpSp>
        <p:nvGrpSpPr>
          <p:cNvPr id="17" name="Group 17"/>
          <p:cNvGrpSpPr/>
          <p:nvPr/>
        </p:nvGrpSpPr>
        <p:grpSpPr>
          <a:xfrm>
            <a:off x="1009650" y="1695450"/>
            <a:ext cx="4128969" cy="511969"/>
            <a:chOff x="1009650" y="1695450"/>
            <a:chExt cx="4128969" cy="511969"/>
          </a:xfrm>
        </p:grpSpPr>
        <p:sp>
          <p:nvSpPr>
            <p:cNvPr id="13" name="Ellipse 13"/>
            <p:cNvSpPr/>
            <p:nvPr/>
          </p:nvSpPr>
          <p:spPr>
            <a:xfrm>
              <a:off x="1009650" y="1695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B4945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7327" y="1878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49450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19300" y="17049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登录与注册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25968" y="2009299"/>
              <a:ext cx="31126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手机号登录 · 注册自动跳转 · disableScroll 全屏适配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9650" y="2457450"/>
            <a:ext cx="3829932" cy="511969"/>
            <a:chOff x="1009650" y="2457450"/>
            <a:chExt cx="3829932" cy="511969"/>
          </a:xfrm>
        </p:grpSpPr>
        <p:sp>
          <p:nvSpPr>
            <p:cNvPr id="18" name="Ellipse 18"/>
            <p:cNvSpPr/>
            <p:nvPr/>
          </p:nvSpPr>
          <p:spPr>
            <a:xfrm>
              <a:off x="1009650" y="2457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6B273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7327" y="2640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2737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19300" y="24669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首页浏览与搜索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5968" y="2771299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学院筛选 · 实时搜索 · 排序切换 · 下拉加载更多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9650" y="3219450"/>
            <a:ext cx="4089964" cy="511969"/>
            <a:chOff x="1009650" y="3219450"/>
            <a:chExt cx="4089964" cy="511969"/>
          </a:xfrm>
        </p:grpSpPr>
        <p:sp>
          <p:nvSpPr>
            <p:cNvPr id="23" name="Ellipse 23"/>
            <p:cNvSpPr/>
            <p:nvPr/>
          </p:nvSpPr>
          <p:spPr>
            <a:xfrm>
              <a:off x="1009650" y="3219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5B7FB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7327" y="3402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FBD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19300" y="32289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书籍详情与购买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5968" y="353329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多图滑动切换 · 卖家信息 · 取书地点选择 · 一键下单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9650" y="3981450"/>
            <a:ext cx="3829932" cy="511969"/>
            <a:chOff x="1009650" y="3981450"/>
            <a:chExt cx="3829932" cy="511969"/>
          </a:xfrm>
        </p:grpSpPr>
        <p:sp>
          <p:nvSpPr>
            <p:cNvPr id="28" name="Ellipse 28"/>
            <p:cNvSpPr/>
            <p:nvPr/>
          </p:nvSpPr>
          <p:spPr>
            <a:xfrm>
              <a:off x="1009650" y="3981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4A674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37327" y="4164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A6741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9300" y="39909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卖书与求购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25968" y="4295299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多图逐张上传 · 求购广场 · 发布求购 · 在售验证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9650" y="4743450"/>
            <a:ext cx="3829932" cy="511969"/>
            <a:chOff x="1009650" y="4743450"/>
            <a:chExt cx="3829932" cy="511969"/>
          </a:xfrm>
        </p:grpSpPr>
        <p:sp>
          <p:nvSpPr>
            <p:cNvPr id="33" name="Ellipse 33"/>
            <p:cNvSpPr/>
            <p:nvPr/>
          </p:nvSpPr>
          <p:spPr>
            <a:xfrm>
              <a:off x="1009650" y="4743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8B691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37327" y="4926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914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19300" y="47529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订单与评价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25968" y="5057299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双视角订单 · 五星评价 · 完整时间线 · 状态流转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9650" y="5505450"/>
            <a:ext cx="4089964" cy="511969"/>
            <a:chOff x="1009650" y="5505450"/>
            <a:chExt cx="4089964" cy="511969"/>
          </a:xfrm>
        </p:grpSpPr>
        <p:sp>
          <p:nvSpPr>
            <p:cNvPr id="38" name="Ellipse 38"/>
            <p:cNvSpPr/>
            <p:nvPr/>
          </p:nvSpPr>
          <p:spPr>
            <a:xfrm>
              <a:off x="1009650" y="5505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6B2737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37327" y="5688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2737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19300" y="55149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个人中心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25968" y="581929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暖棕渐变头部 · 订单统计卡片 · 功能菜单 · 我的卖书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0570" y="6522720"/>
            <a:ext cx="27892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校园二手书交易平台 · 移动端功能展示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7" grpId="0"/>
      <p:bldP spid="32" grpId="0"/>
      <p:bldP spid="37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移动端登录与注册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233488" cy="28575"/>
          </a:xfrm>
          <a:custGeom>
            <a:avLst/>
            <a:gdLst/>
            <a:ahLst/>
            <a:cxnLst/>
            <a:rect l="l" t="t" r="r" b="b"/>
            <a:pathLst>
              <a:path w="1233488" h="28575">
                <a:moveTo>
                  <a:pt x="14288" y="0"/>
                </a:moveTo>
                <a:lnTo>
                  <a:pt x="1219200" y="0"/>
                </a:lnTo>
                <a:cubicBezTo>
                  <a:pt x="1227091" y="0"/>
                  <a:pt x="1233488" y="6397"/>
                  <a:pt x="1233488" y="14288"/>
                </a:cubicBezTo>
                <a:lnTo>
                  <a:pt x="1233488" y="14288"/>
                </a:lnTo>
                <a:cubicBezTo>
                  <a:pt x="1233488" y="22178"/>
                  <a:pt x="1227091" y="28575"/>
                  <a:pt x="12192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66925"/>
            <a:ext cx="3524250" cy="2819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110264" y="59826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登录页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2066925"/>
            <a:ext cx="3524250" cy="2819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15514" y="59826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注册页</a:t>
            </a:r>
          </a:p>
        </p:txBody>
      </p:sp>
      <p:sp>
        <p:nvSpPr>
          <p:cNvPr id="10" name="Freeform 10"/>
          <p:cNvSpPr/>
          <p:nvPr/>
        </p:nvSpPr>
        <p:spPr>
          <a:xfrm>
            <a:off x="8248650" y="1095375"/>
            <a:ext cx="3505200" cy="4895850"/>
          </a:xfrm>
          <a:custGeom>
            <a:avLst/>
            <a:gdLst/>
            <a:ahLst/>
            <a:cxnLst/>
            <a:rect l="l" t="t" r="r" b="b"/>
            <a:pathLst>
              <a:path w="3505200" h="4895850">
                <a:moveTo>
                  <a:pt x="133350" y="0"/>
                </a:moveTo>
                <a:lnTo>
                  <a:pt x="3371850" y="0"/>
                </a:lnTo>
                <a:cubicBezTo>
                  <a:pt x="3445497" y="0"/>
                  <a:pt x="3505200" y="59703"/>
                  <a:pt x="3505200" y="133350"/>
                </a:cubicBezTo>
                <a:lnTo>
                  <a:pt x="3505200" y="4762500"/>
                </a:lnTo>
                <a:cubicBezTo>
                  <a:pt x="3505200" y="4836147"/>
                  <a:pt x="3445497" y="4895850"/>
                  <a:pt x="3371850" y="4895850"/>
                </a:cubicBezTo>
                <a:lnTo>
                  <a:pt x="133350" y="4895850"/>
                </a:lnTo>
                <a:cubicBezTo>
                  <a:pt x="59703" y="4895850"/>
                  <a:pt x="0" y="4836147"/>
                  <a:pt x="0" y="4762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8248650" y="1095375"/>
            <a:ext cx="3505200" cy="38100"/>
          </a:xfrm>
          <a:custGeom>
            <a:avLst/>
            <a:gdLst/>
            <a:ahLst/>
            <a:cxnLst/>
            <a:rect l="l" t="t" r="r" b="b"/>
            <a:pathLst>
              <a:path w="3505200" h="38100">
                <a:moveTo>
                  <a:pt x="19050" y="0"/>
                </a:moveTo>
                <a:lnTo>
                  <a:pt x="3486150" y="0"/>
                </a:lnTo>
                <a:cubicBezTo>
                  <a:pt x="3496671" y="0"/>
                  <a:pt x="3505200" y="8529"/>
                  <a:pt x="3505200" y="19050"/>
                </a:cubicBezTo>
                <a:lnTo>
                  <a:pt x="3505200" y="19050"/>
                </a:lnTo>
                <a:cubicBezTo>
                  <a:pt x="3505200" y="29571"/>
                  <a:pt x="3496671" y="38100"/>
                  <a:pt x="34861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562148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核心特性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59165" y="1744028"/>
            <a:ext cx="1608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disableScroll 全屏适配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59165" y="2029778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密码框 :password="true"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9165" y="231552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手机号 + 密码登录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59165" y="2601278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注册成功自动登录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9165" y="2887028"/>
            <a:ext cx="1559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8位+含大小写字母数字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59165" y="3172778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深蓝渐变背景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9165" y="3458528"/>
            <a:ext cx="11608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琥珀色 CTA 按钮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165" y="3744278"/>
            <a:ext cx="1622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底部注册/登录切换入口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9165" y="4030028"/>
            <a:ext cx="1566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与 Web 端共享后端 API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59165" y="4315778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数据三端互通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首页浏览与搜索筛选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385888" cy="28575"/>
          </a:xfrm>
          <a:custGeom>
            <a:avLst/>
            <a:gdLst/>
            <a:ahLst/>
            <a:cxnLst/>
            <a:rect l="l" t="t" r="r" b="b"/>
            <a:pathLst>
              <a:path w="1385888" h="28575">
                <a:moveTo>
                  <a:pt x="14288" y="0"/>
                </a:moveTo>
                <a:lnTo>
                  <a:pt x="1371600" y="0"/>
                </a:lnTo>
                <a:cubicBezTo>
                  <a:pt x="1379491" y="0"/>
                  <a:pt x="1385888" y="6397"/>
                  <a:pt x="1385888" y="14288"/>
                </a:cubicBezTo>
                <a:lnTo>
                  <a:pt x="1385888" y="14288"/>
                </a:lnTo>
                <a:cubicBezTo>
                  <a:pt x="1385888" y="22178"/>
                  <a:pt x="1379491" y="28575"/>
                  <a:pt x="13716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43025"/>
            <a:ext cx="5334000" cy="4267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875121" y="598265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移动端首页</a:t>
            </a:r>
          </a:p>
        </p:txBody>
      </p:sp>
      <p:sp>
        <p:nvSpPr>
          <p:cNvPr id="8" name="Freeform 8"/>
          <p:cNvSpPr/>
          <p:nvPr/>
        </p:nvSpPr>
        <p:spPr>
          <a:xfrm>
            <a:off x="6153150" y="1095375"/>
            <a:ext cx="5600700" cy="2419350"/>
          </a:xfrm>
          <a:custGeom>
            <a:avLst/>
            <a:gdLst/>
            <a:ahLst/>
            <a:cxnLst/>
            <a:rect l="l" t="t" r="r" b="b"/>
            <a:pathLst>
              <a:path w="5600700" h="2419350">
                <a:moveTo>
                  <a:pt x="133350" y="0"/>
                </a:moveTo>
                <a:lnTo>
                  <a:pt x="5467350" y="0"/>
                </a:lnTo>
                <a:cubicBezTo>
                  <a:pt x="5540997" y="0"/>
                  <a:pt x="5600700" y="59703"/>
                  <a:pt x="5600700" y="133350"/>
                </a:cubicBezTo>
                <a:lnTo>
                  <a:pt x="5600700" y="2286000"/>
                </a:lnTo>
                <a:cubicBezTo>
                  <a:pt x="5600700" y="2359647"/>
                  <a:pt x="5540997" y="2419350"/>
                  <a:pt x="5467350" y="2419350"/>
                </a:cubicBezTo>
                <a:lnTo>
                  <a:pt x="133350" y="2419350"/>
                </a:lnTo>
                <a:cubicBezTo>
                  <a:pt x="59703" y="2419350"/>
                  <a:pt x="0" y="2359647"/>
                  <a:pt x="0" y="22860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153150" y="109537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19050" y="0"/>
                </a:moveTo>
                <a:lnTo>
                  <a:pt x="5581650" y="0"/>
                </a:lnTo>
                <a:cubicBezTo>
                  <a:pt x="5592171" y="0"/>
                  <a:pt x="5600700" y="8529"/>
                  <a:pt x="5600700" y="19050"/>
                </a:cubicBezTo>
                <a:lnTo>
                  <a:pt x="5600700" y="19050"/>
                </a:lnTo>
                <a:cubicBezTo>
                  <a:pt x="5600700" y="29571"/>
                  <a:pt x="5592171" y="38100"/>
                  <a:pt x="55816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4398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首页功能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63665" y="17440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搜索框 + 学院筛选下拉框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63665" y="2029778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四种排序：最新/价格升降/成色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63665" y="2315528"/>
            <a:ext cx="30090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书籍卡片网格：封面 + 书名 + 价格 + 成色标签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3665" y="2601278"/>
            <a:ext cx="2736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safe-image 组件加载封面（HTTP→本地）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63665" y="2887028"/>
            <a:ext cx="189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下拉加载更多（page 自增）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53150" y="3619500"/>
            <a:ext cx="5600700" cy="2371725"/>
          </a:xfrm>
          <a:custGeom>
            <a:avLst/>
            <a:gdLst/>
            <a:ahLst/>
            <a:cxnLst/>
            <a:rect l="l" t="t" r="r" b="b"/>
            <a:pathLst>
              <a:path w="5600700" h="2371725">
                <a:moveTo>
                  <a:pt x="133350" y="0"/>
                </a:moveTo>
                <a:lnTo>
                  <a:pt x="5467350" y="0"/>
                </a:lnTo>
                <a:cubicBezTo>
                  <a:pt x="5540997" y="0"/>
                  <a:pt x="5600700" y="59703"/>
                  <a:pt x="5600700" y="133350"/>
                </a:cubicBezTo>
                <a:lnTo>
                  <a:pt x="5600700" y="2238375"/>
                </a:lnTo>
                <a:cubicBezTo>
                  <a:pt x="5600700" y="2312022"/>
                  <a:pt x="5540997" y="2371725"/>
                  <a:pt x="5467350" y="2371725"/>
                </a:cubicBezTo>
                <a:lnTo>
                  <a:pt x="133350" y="2371725"/>
                </a:lnTo>
                <a:cubicBezTo>
                  <a:pt x="59703" y="2371725"/>
                  <a:pt x="0" y="2312022"/>
                  <a:pt x="0" y="22383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153150" y="36195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19050" y="0"/>
                </a:moveTo>
                <a:lnTo>
                  <a:pt x="5581650" y="0"/>
                </a:lnTo>
                <a:cubicBezTo>
                  <a:pt x="5592171" y="0"/>
                  <a:pt x="5600700" y="8529"/>
                  <a:pt x="5600700" y="19050"/>
                </a:cubicBezTo>
                <a:lnTo>
                  <a:pt x="5600700" y="19050"/>
                </a:lnTo>
                <a:cubicBezTo>
                  <a:pt x="5600700" y="29571"/>
                  <a:pt x="5592171" y="38100"/>
                  <a:pt x="55816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B7FB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09384" y="38385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搜索与筛选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3665" y="426815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搜索框输入关键词实时搜索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3665" y="4553902"/>
            <a:ext cx="20919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右侧清除按钮（24×24 圆形 ×）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3665" y="483965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学院下拉框选择后自动筛选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3665" y="5125402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排序下拉框切换排列方式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3665" y="5411152"/>
            <a:ext cx="1846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搜索框聚焦色深蓝 #2c5282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书籍详情与购买下单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385888" cy="28575"/>
          </a:xfrm>
          <a:custGeom>
            <a:avLst/>
            <a:gdLst/>
            <a:ahLst/>
            <a:cxnLst/>
            <a:rect l="l" t="t" r="r" b="b"/>
            <a:pathLst>
              <a:path w="1385888" h="28575">
                <a:moveTo>
                  <a:pt x="14288" y="0"/>
                </a:moveTo>
                <a:lnTo>
                  <a:pt x="1371600" y="0"/>
                </a:lnTo>
                <a:cubicBezTo>
                  <a:pt x="1379491" y="0"/>
                  <a:pt x="1385888" y="6397"/>
                  <a:pt x="1385888" y="14288"/>
                </a:cubicBezTo>
                <a:lnTo>
                  <a:pt x="1385888" y="14288"/>
                </a:lnTo>
                <a:cubicBezTo>
                  <a:pt x="1385888" y="22178"/>
                  <a:pt x="1379491" y="28575"/>
                  <a:pt x="13716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66925"/>
            <a:ext cx="3524250" cy="2819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040255" y="5982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书籍详情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2066925"/>
            <a:ext cx="3524250" cy="2819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45505" y="5982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购买下单</a:t>
            </a:r>
          </a:p>
        </p:txBody>
      </p:sp>
      <p:sp>
        <p:nvSpPr>
          <p:cNvPr id="10" name="Freeform 10"/>
          <p:cNvSpPr/>
          <p:nvPr/>
        </p:nvSpPr>
        <p:spPr>
          <a:xfrm>
            <a:off x="8248650" y="1095375"/>
            <a:ext cx="3505200" cy="4895850"/>
          </a:xfrm>
          <a:custGeom>
            <a:avLst/>
            <a:gdLst/>
            <a:ahLst/>
            <a:cxnLst/>
            <a:rect l="l" t="t" r="r" b="b"/>
            <a:pathLst>
              <a:path w="3505200" h="4895850">
                <a:moveTo>
                  <a:pt x="133350" y="0"/>
                </a:moveTo>
                <a:lnTo>
                  <a:pt x="3371850" y="0"/>
                </a:lnTo>
                <a:cubicBezTo>
                  <a:pt x="3445497" y="0"/>
                  <a:pt x="3505200" y="59703"/>
                  <a:pt x="3505200" y="133350"/>
                </a:cubicBezTo>
                <a:lnTo>
                  <a:pt x="3505200" y="4762500"/>
                </a:lnTo>
                <a:cubicBezTo>
                  <a:pt x="3505200" y="4836147"/>
                  <a:pt x="3445497" y="4895850"/>
                  <a:pt x="3371850" y="4895850"/>
                </a:cubicBezTo>
                <a:lnTo>
                  <a:pt x="133350" y="4895850"/>
                </a:lnTo>
                <a:cubicBezTo>
                  <a:pt x="59703" y="4895850"/>
                  <a:pt x="0" y="4836147"/>
                  <a:pt x="0" y="4762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8248650" y="1095375"/>
            <a:ext cx="3505200" cy="38100"/>
          </a:xfrm>
          <a:custGeom>
            <a:avLst/>
            <a:gdLst/>
            <a:ahLst/>
            <a:cxnLst/>
            <a:rect l="l" t="t" r="r" b="b"/>
            <a:pathLst>
              <a:path w="3505200" h="38100">
                <a:moveTo>
                  <a:pt x="19050" y="0"/>
                </a:moveTo>
                <a:lnTo>
                  <a:pt x="3486150" y="0"/>
                </a:lnTo>
                <a:cubicBezTo>
                  <a:pt x="3496671" y="0"/>
                  <a:pt x="3505200" y="8529"/>
                  <a:pt x="3505200" y="19050"/>
                </a:cubicBezTo>
                <a:lnTo>
                  <a:pt x="3505200" y="19050"/>
                </a:lnTo>
                <a:cubicBezTo>
                  <a:pt x="3505200" y="29571"/>
                  <a:pt x="3496671" y="38100"/>
                  <a:pt x="34861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57134" y="1314450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详情与购买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59165" y="17916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封面图 + 实拍照片左右滑动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59165" y="2077402"/>
            <a:ext cx="2231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书名/作者/出版社/ISBN 完整信息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9165" y="23631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学院分类 + 成色标签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59165" y="264890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售价 + 原价对比显示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9165" y="293465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卖家信息展示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59165" y="322040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底部固定「立即购买」按钮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9165" y="350615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下单页：摘要信息 + 取书地点选择器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165" y="3791902"/>
            <a:ext cx="2147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提交 → 生成订单 → 跳转订单详情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卖书发布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623888" cy="28575"/>
          </a:xfrm>
          <a:custGeom>
            <a:avLst/>
            <a:gdLst/>
            <a:ahLst/>
            <a:cxnLst/>
            <a:rect l="l" t="t" r="r" b="b"/>
            <a:pathLst>
              <a:path w="623888" h="28575">
                <a:moveTo>
                  <a:pt x="14288" y="0"/>
                </a:moveTo>
                <a:lnTo>
                  <a:pt x="609600" y="0"/>
                </a:lnTo>
                <a:cubicBezTo>
                  <a:pt x="617491" y="0"/>
                  <a:pt x="623888" y="6397"/>
                  <a:pt x="623888" y="14288"/>
                </a:cubicBezTo>
                <a:lnTo>
                  <a:pt x="623888" y="14288"/>
                </a:lnTo>
                <a:cubicBezTo>
                  <a:pt x="623888" y="22178"/>
                  <a:pt x="617491" y="28575"/>
                  <a:pt x="6096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2125"/>
            <a:ext cx="4286250" cy="3429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281238" y="59826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移动端卖书页</a:t>
            </a:r>
          </a:p>
        </p:txBody>
      </p:sp>
      <p:sp>
        <p:nvSpPr>
          <p:cNvPr id="8" name="Freeform 8"/>
          <p:cNvSpPr/>
          <p:nvPr/>
        </p:nvSpPr>
        <p:spPr>
          <a:xfrm>
            <a:off x="5105400" y="1095375"/>
            <a:ext cx="6648450" cy="4895850"/>
          </a:xfrm>
          <a:custGeom>
            <a:avLst/>
            <a:gdLst/>
            <a:ahLst/>
            <a:cxnLst/>
            <a:rect l="l" t="t" r="r" b="b"/>
            <a:pathLst>
              <a:path w="6648450" h="4895850">
                <a:moveTo>
                  <a:pt x="133350" y="0"/>
                </a:moveTo>
                <a:lnTo>
                  <a:pt x="6515100" y="0"/>
                </a:lnTo>
                <a:cubicBezTo>
                  <a:pt x="6588747" y="0"/>
                  <a:pt x="6648450" y="59703"/>
                  <a:pt x="6648450" y="133350"/>
                </a:cubicBezTo>
                <a:lnTo>
                  <a:pt x="6648450" y="4762500"/>
                </a:lnTo>
                <a:cubicBezTo>
                  <a:pt x="6648450" y="4836147"/>
                  <a:pt x="6588747" y="4895850"/>
                  <a:pt x="6515100" y="4895850"/>
                </a:cubicBezTo>
                <a:lnTo>
                  <a:pt x="133350" y="4895850"/>
                </a:lnTo>
                <a:cubicBezTo>
                  <a:pt x="59703" y="4895850"/>
                  <a:pt x="0" y="4836147"/>
                  <a:pt x="0" y="4762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105400" y="1095375"/>
            <a:ext cx="6648450" cy="38100"/>
          </a:xfrm>
          <a:custGeom>
            <a:avLst/>
            <a:gdLst/>
            <a:ahLst/>
            <a:cxnLst/>
            <a:rect l="l" t="t" r="r" b="b"/>
            <a:pathLst>
              <a:path w="6648450" h="38100">
                <a:moveTo>
                  <a:pt x="19050" y="0"/>
                </a:moveTo>
                <a:lnTo>
                  <a:pt x="6629400" y="0"/>
                </a:lnTo>
                <a:cubicBezTo>
                  <a:pt x="6639921" y="0"/>
                  <a:pt x="6648450" y="8529"/>
                  <a:pt x="6648450" y="19050"/>
                </a:cubicBezTo>
                <a:lnTo>
                  <a:pt x="6648450" y="19050"/>
                </a:lnTo>
                <a:cubicBezTo>
                  <a:pt x="6648450" y="29571"/>
                  <a:pt x="6639921" y="38100"/>
                  <a:pt x="66294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990522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卖书功能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15915" y="1791652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表单：书名/作者/出版社/学院/成色/补充说明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15915" y="2077402"/>
            <a:ext cx="28970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多图上传：2-5 张照片（封面 + 内页/背面）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15915" y="24107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• 微信小程序两步上传流程：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06415" y="2696528"/>
            <a:ext cx="3198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① 逐文件 uni.uploadFile → /api/upload 获取 URL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6415" y="2982278"/>
            <a:ext cx="33450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② uni.request JSON POST image_urls 提交书数据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15915" y="3315652"/>
            <a:ext cx="2785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后端 BookService::submit() 双模式兼容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15915" y="3601402"/>
            <a:ext cx="2007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H5 端：FormData 一次性提交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15915" y="3887152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图片上传中显示进度提示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15915" y="4172902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提交成功自动跳转「我的卖书」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求购广场与发布求购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385888" cy="28575"/>
          </a:xfrm>
          <a:custGeom>
            <a:avLst/>
            <a:gdLst/>
            <a:ahLst/>
            <a:cxnLst/>
            <a:rect l="l" t="t" r="r" b="b"/>
            <a:pathLst>
              <a:path w="1385888" h="28575">
                <a:moveTo>
                  <a:pt x="14288" y="0"/>
                </a:moveTo>
                <a:lnTo>
                  <a:pt x="1371600" y="0"/>
                </a:lnTo>
                <a:cubicBezTo>
                  <a:pt x="1379491" y="0"/>
                  <a:pt x="1385888" y="6397"/>
                  <a:pt x="1385888" y="14288"/>
                </a:cubicBezTo>
                <a:lnTo>
                  <a:pt x="1385888" y="14288"/>
                </a:lnTo>
                <a:cubicBezTo>
                  <a:pt x="1385888" y="22178"/>
                  <a:pt x="1379491" y="28575"/>
                  <a:pt x="13716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16" y="1095375"/>
            <a:ext cx="3274219" cy="261937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040255" y="3791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求购广场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766" y="1095375"/>
            <a:ext cx="3274219" cy="261937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45505" y="3791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发布求购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16" y="3905250"/>
            <a:ext cx="3274219" cy="261937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040255" y="66017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求购详情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766" y="3905250"/>
            <a:ext cx="3274219" cy="261937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45505" y="66017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我的求购</a:t>
            </a:r>
          </a:p>
        </p:txBody>
      </p:sp>
      <p:sp>
        <p:nvSpPr>
          <p:cNvPr id="14" name="Freeform 14"/>
          <p:cNvSpPr/>
          <p:nvPr/>
        </p:nvSpPr>
        <p:spPr>
          <a:xfrm>
            <a:off x="8248650" y="1095375"/>
            <a:ext cx="3505200" cy="4895850"/>
          </a:xfrm>
          <a:custGeom>
            <a:avLst/>
            <a:gdLst/>
            <a:ahLst/>
            <a:cxnLst/>
            <a:rect l="l" t="t" r="r" b="b"/>
            <a:pathLst>
              <a:path w="3505200" h="4895850">
                <a:moveTo>
                  <a:pt x="133350" y="0"/>
                </a:moveTo>
                <a:lnTo>
                  <a:pt x="3371850" y="0"/>
                </a:lnTo>
                <a:cubicBezTo>
                  <a:pt x="3445497" y="0"/>
                  <a:pt x="3505200" y="59703"/>
                  <a:pt x="3505200" y="133350"/>
                </a:cubicBezTo>
                <a:lnTo>
                  <a:pt x="3505200" y="4762500"/>
                </a:lnTo>
                <a:cubicBezTo>
                  <a:pt x="3505200" y="4836147"/>
                  <a:pt x="3445497" y="4895850"/>
                  <a:pt x="3371850" y="4895850"/>
                </a:cubicBezTo>
                <a:lnTo>
                  <a:pt x="133350" y="4895850"/>
                </a:lnTo>
                <a:cubicBezTo>
                  <a:pt x="59703" y="4895850"/>
                  <a:pt x="0" y="4836147"/>
                  <a:pt x="0" y="4762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8248650" y="1095375"/>
            <a:ext cx="3505200" cy="38100"/>
          </a:xfrm>
          <a:custGeom>
            <a:avLst/>
            <a:gdLst/>
            <a:ahLst/>
            <a:cxnLst/>
            <a:rect l="l" t="t" r="r" b="b"/>
            <a:pathLst>
              <a:path w="3505200" h="38100">
                <a:moveTo>
                  <a:pt x="19050" y="0"/>
                </a:moveTo>
                <a:lnTo>
                  <a:pt x="3486150" y="0"/>
                </a:lnTo>
                <a:cubicBezTo>
                  <a:pt x="3496671" y="0"/>
                  <a:pt x="3505200" y="8529"/>
                  <a:pt x="3505200" y="19050"/>
                </a:cubicBezTo>
                <a:lnTo>
                  <a:pt x="3505200" y="19050"/>
                </a:lnTo>
                <a:cubicBezTo>
                  <a:pt x="3505200" y="29571"/>
                  <a:pt x="3496671" y="38100"/>
                  <a:pt x="34861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B7FB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562148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求购功能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9165" y="1791652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求购广场：全量列表展示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59165" y="207740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搜索 + 学院筛选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9165" y="2363152"/>
            <a:ext cx="1979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发布求购：书名/作者/出版社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165" y="2648902"/>
            <a:ext cx="1979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学院/最高接受价/可接受成色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9165" y="2934652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后端检查同名在售，有则提示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59165" y="3220402"/>
            <a:ext cx="1944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求购详情 →「我要卖这本书」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59165" y="3506152"/>
            <a:ext cx="1916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预填书名/作者/出版社/学院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59165" y="3791902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我的求购：独立页面仅显示自己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165" y="4077652"/>
            <a:ext cx="1769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tabBar 点击求购进入广场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订单列表与详情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081088" cy="28575"/>
          </a:xfrm>
          <a:custGeom>
            <a:avLst/>
            <a:gdLst/>
            <a:ahLst/>
            <a:cxnLst/>
            <a:rect l="l" t="t" r="r" b="b"/>
            <a:pathLst>
              <a:path w="1081088" h="28575">
                <a:moveTo>
                  <a:pt x="14288" y="0"/>
                </a:moveTo>
                <a:lnTo>
                  <a:pt x="1066800" y="0"/>
                </a:lnTo>
                <a:cubicBezTo>
                  <a:pt x="1074691" y="0"/>
                  <a:pt x="1081088" y="6397"/>
                  <a:pt x="1081088" y="14288"/>
                </a:cubicBezTo>
                <a:lnTo>
                  <a:pt x="1081088" y="14288"/>
                </a:lnTo>
                <a:cubicBezTo>
                  <a:pt x="1081088" y="22178"/>
                  <a:pt x="1074691" y="28575"/>
                  <a:pt x="10668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66925"/>
            <a:ext cx="3524250" cy="2819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040255" y="5982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订单列表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2066925"/>
            <a:ext cx="3524250" cy="2819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45505" y="5982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订单详情</a:t>
            </a:r>
          </a:p>
        </p:txBody>
      </p:sp>
      <p:sp>
        <p:nvSpPr>
          <p:cNvPr id="10" name="Freeform 10"/>
          <p:cNvSpPr/>
          <p:nvPr/>
        </p:nvSpPr>
        <p:spPr>
          <a:xfrm>
            <a:off x="8248650" y="1095375"/>
            <a:ext cx="3505200" cy="4895850"/>
          </a:xfrm>
          <a:custGeom>
            <a:avLst/>
            <a:gdLst/>
            <a:ahLst/>
            <a:cxnLst/>
            <a:rect l="l" t="t" r="r" b="b"/>
            <a:pathLst>
              <a:path w="3505200" h="4895850">
                <a:moveTo>
                  <a:pt x="133350" y="0"/>
                </a:moveTo>
                <a:lnTo>
                  <a:pt x="3371850" y="0"/>
                </a:lnTo>
                <a:cubicBezTo>
                  <a:pt x="3445497" y="0"/>
                  <a:pt x="3505200" y="59703"/>
                  <a:pt x="3505200" y="133350"/>
                </a:cubicBezTo>
                <a:lnTo>
                  <a:pt x="3505200" y="4762500"/>
                </a:lnTo>
                <a:cubicBezTo>
                  <a:pt x="3505200" y="4836147"/>
                  <a:pt x="3445497" y="4895850"/>
                  <a:pt x="3371850" y="4895850"/>
                </a:cubicBezTo>
                <a:lnTo>
                  <a:pt x="133350" y="4895850"/>
                </a:lnTo>
                <a:cubicBezTo>
                  <a:pt x="59703" y="4895850"/>
                  <a:pt x="0" y="4836147"/>
                  <a:pt x="0" y="4762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8248650" y="1095375"/>
            <a:ext cx="3505200" cy="38100"/>
          </a:xfrm>
          <a:custGeom>
            <a:avLst/>
            <a:gdLst/>
            <a:ahLst/>
            <a:cxnLst/>
            <a:rect l="l" t="t" r="r" b="b"/>
            <a:pathLst>
              <a:path w="3505200" h="38100">
                <a:moveTo>
                  <a:pt x="19050" y="0"/>
                </a:moveTo>
                <a:lnTo>
                  <a:pt x="3486150" y="0"/>
                </a:lnTo>
                <a:cubicBezTo>
                  <a:pt x="3496671" y="0"/>
                  <a:pt x="3505200" y="8529"/>
                  <a:pt x="3505200" y="19050"/>
                </a:cubicBezTo>
                <a:lnTo>
                  <a:pt x="3505200" y="19050"/>
                </a:lnTo>
                <a:cubicBezTo>
                  <a:pt x="3505200" y="29571"/>
                  <a:pt x="3496671" y="38100"/>
                  <a:pt x="34861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B691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562148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订单功能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59165" y="1791652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买家/卖家双视角可见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59165" y="2077402"/>
            <a:ext cx="27570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状态流转：待付款→已付款→已确认→已取书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9165" y="2410778"/>
            <a:ext cx="16998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买家可：支付/取消/删除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59165" y="2696528"/>
            <a:ext cx="1902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卖家可：查看售出订单/删除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9165" y="3029902"/>
            <a:ext cx="2476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订单详情：编号/书籍/金额/取书地点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59165" y="3315652"/>
            <a:ext cx="1125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完整时间线展示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9165" y="3601402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进行中订单不可删除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165" y="3887152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支持 ?status= 参数筛选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9165" y="4172902"/>
            <a:ext cx="2245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个人中心订单统计卡片可点击跳转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评价功能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623888" cy="28575"/>
          </a:xfrm>
          <a:custGeom>
            <a:avLst/>
            <a:gdLst/>
            <a:ahLst/>
            <a:cxnLst/>
            <a:rect l="l" t="t" r="r" b="b"/>
            <a:pathLst>
              <a:path w="623888" h="28575">
                <a:moveTo>
                  <a:pt x="14288" y="0"/>
                </a:moveTo>
                <a:lnTo>
                  <a:pt x="609600" y="0"/>
                </a:lnTo>
                <a:cubicBezTo>
                  <a:pt x="617491" y="0"/>
                  <a:pt x="623888" y="6397"/>
                  <a:pt x="623888" y="14288"/>
                </a:cubicBezTo>
                <a:lnTo>
                  <a:pt x="623888" y="14288"/>
                </a:lnTo>
                <a:cubicBezTo>
                  <a:pt x="623888" y="22178"/>
                  <a:pt x="617491" y="28575"/>
                  <a:pt x="6096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2125"/>
            <a:ext cx="4286250" cy="3429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421255" y="59826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评价页面</a:t>
            </a:r>
          </a:p>
        </p:txBody>
      </p:sp>
      <p:sp>
        <p:nvSpPr>
          <p:cNvPr id="8" name="Freeform 8"/>
          <p:cNvSpPr/>
          <p:nvPr/>
        </p:nvSpPr>
        <p:spPr>
          <a:xfrm>
            <a:off x="5105400" y="1095375"/>
            <a:ext cx="6648450" cy="4895850"/>
          </a:xfrm>
          <a:custGeom>
            <a:avLst/>
            <a:gdLst/>
            <a:ahLst/>
            <a:cxnLst/>
            <a:rect l="l" t="t" r="r" b="b"/>
            <a:pathLst>
              <a:path w="6648450" h="4895850">
                <a:moveTo>
                  <a:pt x="133350" y="0"/>
                </a:moveTo>
                <a:lnTo>
                  <a:pt x="6515100" y="0"/>
                </a:lnTo>
                <a:cubicBezTo>
                  <a:pt x="6588747" y="0"/>
                  <a:pt x="6648450" y="59703"/>
                  <a:pt x="6648450" y="133350"/>
                </a:cubicBezTo>
                <a:lnTo>
                  <a:pt x="6648450" y="4762500"/>
                </a:lnTo>
                <a:cubicBezTo>
                  <a:pt x="6648450" y="4836147"/>
                  <a:pt x="6588747" y="4895850"/>
                  <a:pt x="6515100" y="4895850"/>
                </a:cubicBezTo>
                <a:lnTo>
                  <a:pt x="133350" y="4895850"/>
                </a:lnTo>
                <a:cubicBezTo>
                  <a:pt x="59703" y="4895850"/>
                  <a:pt x="0" y="4836147"/>
                  <a:pt x="0" y="4762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105400" y="1095375"/>
            <a:ext cx="6648450" cy="38100"/>
          </a:xfrm>
          <a:custGeom>
            <a:avLst/>
            <a:gdLst/>
            <a:ahLst/>
            <a:cxnLst/>
            <a:rect l="l" t="t" r="r" b="b"/>
            <a:pathLst>
              <a:path w="6648450" h="38100">
                <a:moveTo>
                  <a:pt x="19050" y="0"/>
                </a:moveTo>
                <a:lnTo>
                  <a:pt x="6629400" y="0"/>
                </a:lnTo>
                <a:cubicBezTo>
                  <a:pt x="6639921" y="0"/>
                  <a:pt x="6648450" y="8529"/>
                  <a:pt x="6648450" y="19050"/>
                </a:cubicBezTo>
                <a:lnTo>
                  <a:pt x="6648450" y="19050"/>
                </a:lnTo>
                <a:cubicBezTo>
                  <a:pt x="6648450" y="29571"/>
                  <a:pt x="6639921" y="38100"/>
                  <a:pt x="66294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990522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评价规则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15915" y="1791652"/>
            <a:ext cx="11608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书籍评分 1-5 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15915" y="2077402"/>
            <a:ext cx="11608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服务评分 1-5 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15915" y="236315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文字评价内容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15915" y="2696528"/>
            <a:ext cx="2904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触发条件：订单状态为已取书（picked_up）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15915" y="3029902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限制：每笔订单仅可评价一次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15915" y="3363278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平台收购订单（buyer=admin）不显示评价入口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15915" y="369665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评价独立，不改变订单状态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15915" y="3982402"/>
            <a:ext cx="2911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四端校验：ReviewService/API/Web/Mobile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15915" y="4268152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评价后可在订单详情查看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43062" y="65893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个人中心与我的卖书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385888" cy="28575"/>
          </a:xfrm>
          <a:custGeom>
            <a:avLst/>
            <a:gdLst/>
            <a:ahLst/>
            <a:cxnLst/>
            <a:rect l="l" t="t" r="r" b="b"/>
            <a:pathLst>
              <a:path w="1385888" h="28575">
                <a:moveTo>
                  <a:pt x="14288" y="0"/>
                </a:moveTo>
                <a:lnTo>
                  <a:pt x="1371600" y="0"/>
                </a:lnTo>
                <a:cubicBezTo>
                  <a:pt x="1379491" y="0"/>
                  <a:pt x="1385888" y="6397"/>
                  <a:pt x="1385888" y="14288"/>
                </a:cubicBezTo>
                <a:lnTo>
                  <a:pt x="1385888" y="14288"/>
                </a:lnTo>
                <a:cubicBezTo>
                  <a:pt x="1385888" y="22178"/>
                  <a:pt x="1379491" y="28575"/>
                  <a:pt x="13716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90625"/>
            <a:ext cx="4286250" cy="3429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421255" y="47920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个人中心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38" y="1095375"/>
            <a:ext cx="4524375" cy="3619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136255" y="47920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我的卖书</a:t>
            </a:r>
          </a:p>
        </p:txBody>
      </p:sp>
      <p:sp>
        <p:nvSpPr>
          <p:cNvPr id="10" name="Freeform 10"/>
          <p:cNvSpPr/>
          <p:nvPr/>
        </p:nvSpPr>
        <p:spPr>
          <a:xfrm>
            <a:off x="438150" y="49530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133350" y="0"/>
                </a:moveTo>
                <a:lnTo>
                  <a:pt x="5467350" y="0"/>
                </a:lnTo>
                <a:cubicBezTo>
                  <a:pt x="5540997" y="0"/>
                  <a:pt x="5600700" y="59703"/>
                  <a:pt x="5600700" y="133350"/>
                </a:cubicBezTo>
                <a:lnTo>
                  <a:pt x="5600700" y="1238250"/>
                </a:lnTo>
                <a:cubicBezTo>
                  <a:pt x="5600700" y="1311897"/>
                  <a:pt x="5540997" y="1371600"/>
                  <a:pt x="5467350" y="1371600"/>
                </a:cubicBezTo>
                <a:lnTo>
                  <a:pt x="133350" y="1371600"/>
                </a:lnTo>
                <a:cubicBezTo>
                  <a:pt x="59703" y="1371600"/>
                  <a:pt x="0" y="1311897"/>
                  <a:pt x="0" y="12382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438150" y="49530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19050" y="0"/>
                </a:moveTo>
                <a:lnTo>
                  <a:pt x="5581650" y="0"/>
                </a:lnTo>
                <a:cubicBezTo>
                  <a:pt x="5592171" y="0"/>
                  <a:pt x="5600700" y="8529"/>
                  <a:pt x="5600700" y="19050"/>
                </a:cubicBezTo>
                <a:lnTo>
                  <a:pt x="5600700" y="19050"/>
                </a:lnTo>
                <a:cubicBezTo>
                  <a:pt x="5600700" y="29571"/>
                  <a:pt x="5592171" y="38100"/>
                  <a:pt x="55816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843308" y="51406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个人中心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5487352"/>
            <a:ext cx="31490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暖棕渐变头部：头像 + 姓名 + 学号 + 脱敏手机号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5773102"/>
            <a:ext cx="26449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4 格订单统计卡片（可点击按状态筛选）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6058852"/>
            <a:ext cx="30090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菜单：卖书 / 我的卖书 / 我的求购 / 编辑信息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53150" y="49530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133350" y="0"/>
                </a:moveTo>
                <a:lnTo>
                  <a:pt x="5467350" y="0"/>
                </a:lnTo>
                <a:cubicBezTo>
                  <a:pt x="5540997" y="0"/>
                  <a:pt x="5600700" y="59703"/>
                  <a:pt x="5600700" y="133350"/>
                </a:cubicBezTo>
                <a:lnTo>
                  <a:pt x="5600700" y="1238250"/>
                </a:lnTo>
                <a:cubicBezTo>
                  <a:pt x="5600700" y="1311897"/>
                  <a:pt x="5540997" y="1371600"/>
                  <a:pt x="5467350" y="1371600"/>
                </a:cubicBezTo>
                <a:lnTo>
                  <a:pt x="133350" y="1371600"/>
                </a:lnTo>
                <a:cubicBezTo>
                  <a:pt x="59703" y="1371600"/>
                  <a:pt x="0" y="1311897"/>
                  <a:pt x="0" y="12382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153150" y="49530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19050" y="0"/>
                </a:moveTo>
                <a:lnTo>
                  <a:pt x="5581650" y="0"/>
                </a:lnTo>
                <a:cubicBezTo>
                  <a:pt x="5592171" y="0"/>
                  <a:pt x="5600700" y="8529"/>
                  <a:pt x="5600700" y="19050"/>
                </a:cubicBezTo>
                <a:lnTo>
                  <a:pt x="5600700" y="19050"/>
                </a:lnTo>
                <a:cubicBezTo>
                  <a:pt x="5600700" y="29571"/>
                  <a:pt x="5592171" y="38100"/>
                  <a:pt x="55816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558308" y="51406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我的卖书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3665" y="5487352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列表展示自己发布的书籍，含状态标签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3665" y="577310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已售出可点击查看订单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3665" y="6058852"/>
            <a:ext cx="16928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封面图 safe-image 加载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移动端技术亮点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081088" cy="28575"/>
          </a:xfrm>
          <a:custGeom>
            <a:avLst/>
            <a:gdLst/>
            <a:ahLst/>
            <a:cxnLst/>
            <a:rect l="l" t="t" r="r" b="b"/>
            <a:pathLst>
              <a:path w="1081088" h="28575">
                <a:moveTo>
                  <a:pt x="14288" y="0"/>
                </a:moveTo>
                <a:lnTo>
                  <a:pt x="1066800" y="0"/>
                </a:lnTo>
                <a:cubicBezTo>
                  <a:pt x="1074691" y="0"/>
                  <a:pt x="1081088" y="6397"/>
                  <a:pt x="1081088" y="14288"/>
                </a:cubicBezTo>
                <a:lnTo>
                  <a:pt x="1081088" y="14288"/>
                </a:lnTo>
                <a:cubicBezTo>
                  <a:pt x="1081088" y="22178"/>
                  <a:pt x="1074691" y="28575"/>
                  <a:pt x="10668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38150" y="1095375"/>
            <a:ext cx="3819525" cy="2609850"/>
          </a:xfrm>
          <a:custGeom>
            <a:avLst/>
            <a:gdLst/>
            <a:ahLst/>
            <a:cxnLst/>
            <a:rect l="l" t="t" r="r" b="b"/>
            <a:pathLst>
              <a:path w="3819525" h="2609850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2476500"/>
                </a:lnTo>
                <a:cubicBezTo>
                  <a:pt x="3819525" y="2550147"/>
                  <a:pt x="3759822" y="2609850"/>
                  <a:pt x="3686175" y="2609850"/>
                </a:cubicBezTo>
                <a:lnTo>
                  <a:pt x="133350" y="2609850"/>
                </a:lnTo>
                <a:cubicBezTo>
                  <a:pt x="59703" y="2609850"/>
                  <a:pt x="0" y="2550147"/>
                  <a:pt x="0" y="2476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438150" y="1095375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08559" y="1314450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跨平台框架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1744028"/>
            <a:ext cx="1972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uni-app · Vue 2 Options API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029778"/>
            <a:ext cx="1685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15 页面 + 3 tabBar 导航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315528"/>
            <a:ext cx="14408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H5 + 微信小程序双端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2601278"/>
            <a:ext cx="2210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Material Design 81×81 PNG 图标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2887028"/>
            <a:ext cx="189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条件编译 #ifdef MP-WEIXIN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14825" y="1095375"/>
            <a:ext cx="3819525" cy="2609850"/>
          </a:xfrm>
          <a:custGeom>
            <a:avLst/>
            <a:gdLst/>
            <a:ahLst/>
            <a:cxnLst/>
            <a:rect l="l" t="t" r="r" b="b"/>
            <a:pathLst>
              <a:path w="3819525" h="2609850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2476500"/>
                </a:lnTo>
                <a:cubicBezTo>
                  <a:pt x="3819525" y="2550147"/>
                  <a:pt x="3759822" y="2609850"/>
                  <a:pt x="3686175" y="2609850"/>
                </a:cubicBezTo>
                <a:lnTo>
                  <a:pt x="133350" y="2609850"/>
                </a:lnTo>
                <a:cubicBezTo>
                  <a:pt x="59703" y="2609850"/>
                  <a:pt x="0" y="2550147"/>
                  <a:pt x="0" y="2476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4314825" y="1095375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90248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图片处理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25340" y="1744028"/>
            <a:ext cx="1510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safe-image 全局组件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25340" y="2029778"/>
            <a:ext cx="1972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uni.downloadFile HTTP→本地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25340" y="2315528"/>
            <a:ext cx="1650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外层 view 固定宽高包裹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25340" y="2601278"/>
            <a:ext cx="2413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WXML 不支持 [0] 下标→.charAt(0)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25340" y="2887028"/>
            <a:ext cx="2063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微信 CSS 兼容：不用 calc/gap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67675" y="1095375"/>
            <a:ext cx="3686175" cy="2609850"/>
          </a:xfrm>
          <a:custGeom>
            <a:avLst/>
            <a:gdLst/>
            <a:ahLst/>
            <a:cxnLst/>
            <a:rect l="l" t="t" r="r" b="b"/>
            <a:pathLst>
              <a:path w="3686175" h="2609850">
                <a:moveTo>
                  <a:pt x="133350" y="0"/>
                </a:moveTo>
                <a:lnTo>
                  <a:pt x="3552825" y="0"/>
                </a:lnTo>
                <a:cubicBezTo>
                  <a:pt x="3626472" y="0"/>
                  <a:pt x="3686175" y="59703"/>
                  <a:pt x="3686175" y="133350"/>
                </a:cubicBezTo>
                <a:lnTo>
                  <a:pt x="3686175" y="2476500"/>
                </a:lnTo>
                <a:cubicBezTo>
                  <a:pt x="3686175" y="2550147"/>
                  <a:pt x="3626472" y="2609850"/>
                  <a:pt x="3552825" y="2609850"/>
                </a:cubicBezTo>
                <a:lnTo>
                  <a:pt x="133350" y="2609850"/>
                </a:lnTo>
                <a:cubicBezTo>
                  <a:pt x="59703" y="2609850"/>
                  <a:pt x="0" y="2550147"/>
                  <a:pt x="0" y="2476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067675" y="1095375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19050" y="0"/>
                </a:moveTo>
                <a:lnTo>
                  <a:pt x="3667125" y="0"/>
                </a:lnTo>
                <a:cubicBezTo>
                  <a:pt x="3677646" y="0"/>
                  <a:pt x="3686175" y="8529"/>
                  <a:pt x="3686175" y="19050"/>
                </a:cubicBezTo>
                <a:lnTo>
                  <a:pt x="3686175" y="19050"/>
                </a:lnTo>
                <a:cubicBezTo>
                  <a:pt x="3686175" y="29571"/>
                  <a:pt x="3677646" y="38100"/>
                  <a:pt x="366712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B7FB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02913" y="1314450"/>
            <a:ext cx="10252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上传与 API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8190" y="1744028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两步多图上传流程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8190" y="2029778"/>
            <a:ext cx="1832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API 封装 utils/request.js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8190" y="2315528"/>
            <a:ext cx="189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#ifdef MP-WEIXIN 绝对路径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78190" y="2601278"/>
            <a:ext cx="1615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401 自动清 auth store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8190" y="2887028"/>
            <a:ext cx="1944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Vue.observable() 状态管理</a:t>
            </a:r>
          </a:p>
        </p:txBody>
      </p:sp>
      <p:sp>
        <p:nvSpPr>
          <p:cNvPr id="30" name="Freeform 30"/>
          <p:cNvSpPr/>
          <p:nvPr/>
        </p:nvSpPr>
        <p:spPr>
          <a:xfrm>
            <a:off x="438150" y="3810000"/>
            <a:ext cx="3819525" cy="2466975"/>
          </a:xfrm>
          <a:custGeom>
            <a:avLst/>
            <a:gdLst/>
            <a:ahLst/>
            <a:cxnLst/>
            <a:rect l="l" t="t" r="r" b="b"/>
            <a:pathLst>
              <a:path w="3819525" h="2466975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2333625"/>
                </a:lnTo>
                <a:cubicBezTo>
                  <a:pt x="3819525" y="2407272"/>
                  <a:pt x="3759822" y="2466975"/>
                  <a:pt x="3686175" y="2466975"/>
                </a:cubicBezTo>
                <a:lnTo>
                  <a:pt x="133350" y="2466975"/>
                </a:lnTo>
                <a:cubicBezTo>
                  <a:pt x="59703" y="2466975"/>
                  <a:pt x="0" y="2407272"/>
                  <a:pt x="0" y="2333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438150" y="3810000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829562" y="4029075"/>
            <a:ext cx="10462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UI/UX 特性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4458652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轻奢学院风设计系统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8665" y="4744402"/>
            <a:ext cx="20289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香槟金 + 暖棕 + 酒红 + 奶油底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8665" y="5125402"/>
            <a:ext cx="19309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登录页 disableScroll 防滚动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8665" y="5411152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密码框 :password="true"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8665" y="5696902"/>
            <a:ext cx="2252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搜索框清除按钮 24×24 z-index:2</a:t>
            </a:r>
          </a:p>
        </p:txBody>
      </p:sp>
      <p:sp>
        <p:nvSpPr>
          <p:cNvPr id="38" name="Freeform 38"/>
          <p:cNvSpPr/>
          <p:nvPr/>
        </p:nvSpPr>
        <p:spPr>
          <a:xfrm>
            <a:off x="4314825" y="3810000"/>
            <a:ext cx="3819525" cy="2466975"/>
          </a:xfrm>
          <a:custGeom>
            <a:avLst/>
            <a:gdLst/>
            <a:ahLst/>
            <a:cxnLst/>
            <a:rect l="l" t="t" r="r" b="b"/>
            <a:pathLst>
              <a:path w="3819525" h="2466975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2333625"/>
                </a:lnTo>
                <a:cubicBezTo>
                  <a:pt x="3819525" y="2407272"/>
                  <a:pt x="3759822" y="2466975"/>
                  <a:pt x="3686175" y="2466975"/>
                </a:cubicBezTo>
                <a:lnTo>
                  <a:pt x="133350" y="2466975"/>
                </a:lnTo>
                <a:cubicBezTo>
                  <a:pt x="59703" y="2466975"/>
                  <a:pt x="0" y="2407272"/>
                  <a:pt x="0" y="2333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4314825" y="3810000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B6914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85234" y="4029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路由与导航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25340" y="4458652"/>
            <a:ext cx="2259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tabBar 页面必须 switchTab 跳转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25340" y="474440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独立子页面（如我的求购）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25340" y="5125402"/>
            <a:ext cx="2259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URL 参数需 decodeURIComponent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25340" y="5411152"/>
            <a:ext cx="2259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@click 事件传参陷阱（事件对象）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25340" y="56969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Storage 图片兜底路由</a:t>
            </a:r>
          </a:p>
        </p:txBody>
      </p:sp>
      <p:sp>
        <p:nvSpPr>
          <p:cNvPr id="46" name="Freeform 46"/>
          <p:cNvSpPr/>
          <p:nvPr/>
        </p:nvSpPr>
        <p:spPr>
          <a:xfrm>
            <a:off x="8067675" y="3810000"/>
            <a:ext cx="3686175" cy="2466975"/>
          </a:xfrm>
          <a:custGeom>
            <a:avLst/>
            <a:gdLst/>
            <a:ahLst/>
            <a:cxnLst/>
            <a:rect l="l" t="t" r="r" b="b"/>
            <a:pathLst>
              <a:path w="3686175" h="2466975">
                <a:moveTo>
                  <a:pt x="133350" y="0"/>
                </a:moveTo>
                <a:lnTo>
                  <a:pt x="3552825" y="0"/>
                </a:lnTo>
                <a:cubicBezTo>
                  <a:pt x="3626472" y="0"/>
                  <a:pt x="3686175" y="59703"/>
                  <a:pt x="3686175" y="133350"/>
                </a:cubicBezTo>
                <a:lnTo>
                  <a:pt x="3686175" y="2333625"/>
                </a:lnTo>
                <a:cubicBezTo>
                  <a:pt x="3686175" y="2407272"/>
                  <a:pt x="3626472" y="2466975"/>
                  <a:pt x="3552825" y="2466975"/>
                </a:cubicBezTo>
                <a:lnTo>
                  <a:pt x="133350" y="2466975"/>
                </a:lnTo>
                <a:cubicBezTo>
                  <a:pt x="59703" y="2466975"/>
                  <a:pt x="0" y="2407272"/>
                  <a:pt x="0" y="2333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47" name="Freeform 47"/>
          <p:cNvSpPr/>
          <p:nvPr/>
        </p:nvSpPr>
        <p:spPr>
          <a:xfrm>
            <a:off x="8067675" y="38100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19050" y="0"/>
                </a:moveTo>
                <a:lnTo>
                  <a:pt x="3667125" y="0"/>
                </a:lnTo>
                <a:cubicBezTo>
                  <a:pt x="3677646" y="0"/>
                  <a:pt x="3686175" y="8529"/>
                  <a:pt x="3686175" y="19050"/>
                </a:cubicBezTo>
                <a:lnTo>
                  <a:pt x="3686175" y="19050"/>
                </a:lnTo>
                <a:cubicBezTo>
                  <a:pt x="3686175" y="29571"/>
                  <a:pt x="3677646" y="38100"/>
                  <a:pt x="366712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581436" y="40290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数据流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78190" y="4458652"/>
            <a:ext cx="1566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与 Web 端共享后端 API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78190" y="474440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数据三端实时互通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78190" y="5125402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catch 块必须有 toast 提示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78190" y="5411152"/>
            <a:ext cx="1678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401 需同步清空本地状态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78190" y="5696902"/>
            <a:ext cx="20359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safe-image 外层需 view 包裹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移动端能力总览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081088" cy="28575"/>
          </a:xfrm>
          <a:custGeom>
            <a:avLst/>
            <a:gdLst/>
            <a:ahLst/>
            <a:cxnLst/>
            <a:rect l="l" t="t" r="r" b="b"/>
            <a:pathLst>
              <a:path w="1081088" h="28575">
                <a:moveTo>
                  <a:pt x="14288" y="0"/>
                </a:moveTo>
                <a:lnTo>
                  <a:pt x="1066800" y="0"/>
                </a:lnTo>
                <a:cubicBezTo>
                  <a:pt x="1074691" y="0"/>
                  <a:pt x="1081088" y="6397"/>
                  <a:pt x="1081088" y="14288"/>
                </a:cubicBezTo>
                <a:lnTo>
                  <a:pt x="1081088" y="14288"/>
                </a:lnTo>
                <a:cubicBezTo>
                  <a:pt x="1081088" y="22178"/>
                  <a:pt x="1074691" y="28575"/>
                  <a:pt x="1066800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38150" y="1095375"/>
            <a:ext cx="3819525" cy="2000250"/>
          </a:xfrm>
          <a:custGeom>
            <a:avLst/>
            <a:gdLst/>
            <a:ahLst/>
            <a:cxnLst/>
            <a:rect l="l" t="t" r="r" b="b"/>
            <a:pathLst>
              <a:path w="3819525" h="2000250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1866900"/>
                </a:lnTo>
                <a:cubicBezTo>
                  <a:pt x="3819525" y="1940547"/>
                  <a:pt x="3759822" y="2000250"/>
                  <a:pt x="36861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438150" y="1095375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21380" y="1487805"/>
            <a:ext cx="10530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15 页面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4526" y="2108835"/>
            <a:ext cx="2366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首页 · 登录 · 注册 · 详情 · 购买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4526" y="2346960"/>
            <a:ext cx="2366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卖书 · 求购 · 订单 · 评价 · 个人</a:t>
            </a:r>
          </a:p>
        </p:txBody>
      </p:sp>
      <p:sp>
        <p:nvSpPr>
          <p:cNvPr id="11" name="Freeform 11"/>
          <p:cNvSpPr/>
          <p:nvPr/>
        </p:nvSpPr>
        <p:spPr>
          <a:xfrm>
            <a:off x="4314825" y="1095375"/>
            <a:ext cx="3819525" cy="2000250"/>
          </a:xfrm>
          <a:custGeom>
            <a:avLst/>
            <a:gdLst/>
            <a:ahLst/>
            <a:cxnLst/>
            <a:rect l="l" t="t" r="r" b="b"/>
            <a:pathLst>
              <a:path w="3819525" h="2000250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1866900"/>
                </a:lnTo>
                <a:cubicBezTo>
                  <a:pt x="3819525" y="1940547"/>
                  <a:pt x="3759822" y="2000250"/>
                  <a:pt x="36861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4314825" y="1095375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87791" y="1487805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A6741"/>
                </a:solidFill>
                <a:latin typeface="Georgia"/>
                <a:ea typeface="KaiTi"/>
                <a:cs typeface="Georgia"/>
              </a:rPr>
              <a:t>3 tabBar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5264" y="2108835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首页 · 求购 · 我的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29200" y="2346960"/>
            <a:ext cx="23907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Material Design 81×81 PNG 图标</a:t>
            </a:r>
          </a:p>
        </p:txBody>
      </p:sp>
      <p:sp>
        <p:nvSpPr>
          <p:cNvPr id="16" name="Freeform 16"/>
          <p:cNvSpPr/>
          <p:nvPr/>
        </p:nvSpPr>
        <p:spPr>
          <a:xfrm>
            <a:off x="8067675" y="1095375"/>
            <a:ext cx="3686175" cy="2000250"/>
          </a:xfrm>
          <a:custGeom>
            <a:avLst/>
            <a:gdLst/>
            <a:ahLst/>
            <a:cxnLst/>
            <a:rect l="l" t="t" r="r" b="b"/>
            <a:pathLst>
              <a:path w="3686175" h="2000250">
                <a:moveTo>
                  <a:pt x="133350" y="0"/>
                </a:moveTo>
                <a:lnTo>
                  <a:pt x="3552825" y="0"/>
                </a:lnTo>
                <a:cubicBezTo>
                  <a:pt x="3626472" y="0"/>
                  <a:pt x="3686175" y="59703"/>
                  <a:pt x="3686175" y="133350"/>
                </a:cubicBezTo>
                <a:lnTo>
                  <a:pt x="3686175" y="1866900"/>
                </a:lnTo>
                <a:cubicBezTo>
                  <a:pt x="3686175" y="1940547"/>
                  <a:pt x="3626472" y="2000250"/>
                  <a:pt x="355282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067675" y="1095375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19050" y="0"/>
                </a:moveTo>
                <a:lnTo>
                  <a:pt x="3667125" y="0"/>
                </a:lnTo>
                <a:cubicBezTo>
                  <a:pt x="3677646" y="0"/>
                  <a:pt x="3686175" y="8529"/>
                  <a:pt x="3686175" y="19050"/>
                </a:cubicBezTo>
                <a:lnTo>
                  <a:pt x="3686175" y="19050"/>
                </a:lnTo>
                <a:cubicBezTo>
                  <a:pt x="3686175" y="29571"/>
                  <a:pt x="3677646" y="38100"/>
                  <a:pt x="366712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B7FB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96019" y="1487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B7FBD"/>
                </a:solidFill>
                <a:latin typeface="Georgia"/>
                <a:ea typeface="KaiTi"/>
                <a:cs typeface="Georgia"/>
              </a:rPr>
              <a:t>双端覆盖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43478" y="2108835"/>
            <a:ext cx="7345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H5 浏览器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5472" y="2346960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微信小程序</a:t>
            </a:r>
          </a:p>
        </p:txBody>
      </p:sp>
      <p:sp>
        <p:nvSpPr>
          <p:cNvPr id="21" name="Freeform 21"/>
          <p:cNvSpPr/>
          <p:nvPr/>
        </p:nvSpPr>
        <p:spPr>
          <a:xfrm>
            <a:off x="438150" y="3200400"/>
            <a:ext cx="3819525" cy="2000250"/>
          </a:xfrm>
          <a:custGeom>
            <a:avLst/>
            <a:gdLst/>
            <a:ahLst/>
            <a:cxnLst/>
            <a:rect l="l" t="t" r="r" b="b"/>
            <a:pathLst>
              <a:path w="3819525" h="2000250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1866900"/>
                </a:lnTo>
                <a:cubicBezTo>
                  <a:pt x="3819525" y="1940547"/>
                  <a:pt x="3759822" y="2000250"/>
                  <a:pt x="36861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438150" y="3200400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674362" y="3592830"/>
            <a:ext cx="13471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6B2737"/>
                </a:solidFill>
                <a:latin typeface="Georgia"/>
                <a:ea typeface="KaiTi"/>
                <a:cs typeface="Georgia"/>
              </a:rPr>
              <a:t>16 项功能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526" y="4213860"/>
            <a:ext cx="2366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搜索 · 筛选 · 排序 · 详情 · 购买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506" y="4451985"/>
            <a:ext cx="26868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卖书 · 求购 · 订单 · 评价 · 个人中心</a:t>
            </a:r>
          </a:p>
        </p:txBody>
      </p:sp>
      <p:sp>
        <p:nvSpPr>
          <p:cNvPr id="26" name="Freeform 26"/>
          <p:cNvSpPr/>
          <p:nvPr/>
        </p:nvSpPr>
        <p:spPr>
          <a:xfrm>
            <a:off x="4314825" y="3200400"/>
            <a:ext cx="3819525" cy="2000250"/>
          </a:xfrm>
          <a:custGeom>
            <a:avLst/>
            <a:gdLst/>
            <a:ahLst/>
            <a:cxnLst/>
            <a:rect l="l" t="t" r="r" b="b"/>
            <a:pathLst>
              <a:path w="3819525" h="2000250">
                <a:moveTo>
                  <a:pt x="133350" y="0"/>
                </a:moveTo>
                <a:lnTo>
                  <a:pt x="3686175" y="0"/>
                </a:lnTo>
                <a:cubicBezTo>
                  <a:pt x="3759822" y="0"/>
                  <a:pt x="3819525" y="59703"/>
                  <a:pt x="3819525" y="133350"/>
                </a:cubicBezTo>
                <a:lnTo>
                  <a:pt x="3819525" y="1866900"/>
                </a:lnTo>
                <a:cubicBezTo>
                  <a:pt x="3819525" y="1940547"/>
                  <a:pt x="3759822" y="2000250"/>
                  <a:pt x="36861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4314825" y="3200400"/>
            <a:ext cx="3819525" cy="38100"/>
          </a:xfrm>
          <a:custGeom>
            <a:avLst/>
            <a:gdLst/>
            <a:ahLst/>
            <a:cxnLst/>
            <a:rect l="l" t="t" r="r" b="b"/>
            <a:pathLst>
              <a:path w="3819525" h="38100">
                <a:moveTo>
                  <a:pt x="19050" y="0"/>
                </a:moveTo>
                <a:lnTo>
                  <a:pt x="3800475" y="0"/>
                </a:lnTo>
                <a:cubicBezTo>
                  <a:pt x="3810996" y="0"/>
                  <a:pt x="3819525" y="8529"/>
                  <a:pt x="3819525" y="19050"/>
                </a:cubicBezTo>
                <a:lnTo>
                  <a:pt x="3819525" y="19050"/>
                </a:lnTo>
                <a:cubicBezTo>
                  <a:pt x="3819525" y="29571"/>
                  <a:pt x="3810996" y="38100"/>
                  <a:pt x="38004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B691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462826" y="3592830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6914"/>
                </a:solidFill>
                <a:latin typeface="Georgia"/>
                <a:ea typeface="KaiTi"/>
                <a:cs typeface="Georgia"/>
              </a:rPr>
              <a:t>轻奢学院风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5254" y="4213860"/>
            <a:ext cx="1518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香槟金 + 暖棕 + 酒红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93195" y="4451985"/>
            <a:ext cx="2462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Cormorant Garamond + 霞鹜文楷</a:t>
            </a:r>
          </a:p>
        </p:txBody>
      </p:sp>
      <p:sp>
        <p:nvSpPr>
          <p:cNvPr id="31" name="Freeform 31"/>
          <p:cNvSpPr/>
          <p:nvPr/>
        </p:nvSpPr>
        <p:spPr>
          <a:xfrm>
            <a:off x="8067675" y="3200400"/>
            <a:ext cx="3686175" cy="2000250"/>
          </a:xfrm>
          <a:custGeom>
            <a:avLst/>
            <a:gdLst/>
            <a:ahLst/>
            <a:cxnLst/>
            <a:rect l="l" t="t" r="r" b="b"/>
            <a:pathLst>
              <a:path w="3686175" h="2000250">
                <a:moveTo>
                  <a:pt x="133350" y="0"/>
                </a:moveTo>
                <a:lnTo>
                  <a:pt x="3552825" y="0"/>
                </a:lnTo>
                <a:cubicBezTo>
                  <a:pt x="3626472" y="0"/>
                  <a:pt x="3686175" y="59703"/>
                  <a:pt x="3686175" y="133350"/>
                </a:cubicBezTo>
                <a:lnTo>
                  <a:pt x="3686175" y="1866900"/>
                </a:lnTo>
                <a:cubicBezTo>
                  <a:pt x="3686175" y="1940547"/>
                  <a:pt x="3626472" y="2000250"/>
                  <a:pt x="355282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8067675" y="32004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19050" y="0"/>
                </a:moveTo>
                <a:lnTo>
                  <a:pt x="3667125" y="0"/>
                </a:lnTo>
                <a:cubicBezTo>
                  <a:pt x="3677646" y="0"/>
                  <a:pt x="3686175" y="8529"/>
                  <a:pt x="3686175" y="19050"/>
                </a:cubicBezTo>
                <a:lnTo>
                  <a:pt x="3686175" y="19050"/>
                </a:lnTo>
                <a:cubicBezTo>
                  <a:pt x="3686175" y="29571"/>
                  <a:pt x="3677646" y="38100"/>
                  <a:pt x="366712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296019" y="359283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全栈自研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51392" y="4213860"/>
            <a:ext cx="21187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uni-app + Vue 2 Options API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31427" y="4451985"/>
            <a:ext cx="15586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Laravel 5.8 后端 API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5334000"/>
            <a:ext cx="11049000" cy="533400"/>
          </a:xfrm>
          <a:custGeom>
            <a:avLst/>
            <a:gdLst/>
            <a:ahLst/>
            <a:cxnLst/>
            <a:rect l="l" t="t" r="r" b="b"/>
            <a:pathLst>
              <a:path w="11049000" h="5334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419100"/>
                </a:lnTo>
                <a:cubicBezTo>
                  <a:pt x="11049000" y="482226"/>
                  <a:pt x="10997826" y="533400"/>
                  <a:pt x="10934700" y="533400"/>
                </a:cubicBezTo>
                <a:lnTo>
                  <a:pt x="114300" y="533400"/>
                </a:lnTo>
                <a:cubicBezTo>
                  <a:pt x="51174" y="533400"/>
                  <a:pt x="0" y="482226"/>
                  <a:pt x="0" y="419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2917435" y="5540692"/>
            <a:ext cx="63571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49450"/>
                </a:solidFill>
                <a:latin typeface="Arial"/>
                <a:ea typeface="Microsoft YaHei"/>
                <a:cs typeface="Arial"/>
              </a:rPr>
              <a:t>uni-app (Vue 2 Options API) + Laravel 5.8 + MySQL · 移动端全功能覆盖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2416"/>
              </a:gs>
              <a:gs pos="40000">
                <a:srgbClr val="3D3020"/>
              </a:gs>
              <a:gs pos="100000">
                <a:srgbClr val="2C241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10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0" y="2667000"/>
            <a:ext cx="1524000" cy="1524000"/>
            <a:chOff x="5334000" y="2667000"/>
            <a:chExt cx="1524000" cy="1524000"/>
          </a:xfrm>
        </p:grpSpPr>
        <p:sp>
          <p:nvSpPr>
            <p:cNvPr id="4" name="Ellipse 4"/>
            <p:cNvSpPr/>
            <p:nvPr/>
          </p:nvSpPr>
          <p:spPr>
            <a:xfrm>
              <a:off x="5334000" y="2667000"/>
              <a:ext cx="1524000" cy="1524000"/>
            </a:xfrm>
            <a:prstGeom prst="ellipse">
              <a:avLst/>
            </a:prstGeom>
            <a:noFill/>
            <a:ln w="19050">
              <a:solidFill>
                <a:srgbClr val="B49450">
                  <a:alpha val="15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5524500" y="2857500"/>
              <a:ext cx="1143000" cy="1143000"/>
            </a:xfrm>
            <a:prstGeom prst="ellipse">
              <a:avLst/>
            </a:prstGeom>
            <a:noFill/>
            <a:ln w="19050">
              <a:solidFill>
                <a:srgbClr val="B49450">
                  <a:alpha val="20000"/>
                </a:srgbClr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5262143" y="2815590"/>
            <a:ext cx="166771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D4BC7C"/>
                </a:solidFill>
                <a:latin typeface="Georgia"/>
                <a:ea typeface="KaiTi"/>
                <a:cs typeface="Georgia"/>
              </a:rPr>
              <a:t>谢 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28364" y="3917632"/>
            <a:ext cx="29352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校园二手书交易平台 · 移动端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69051" y="4458652"/>
            <a:ext cx="1853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微信小程序 · uni-app 跨平台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2026-06-26T18:03:01Z</dcterms:created>
  <dcterms:modified xsi:type="dcterms:W3CDTF">2026-06-26T18:03:01Z</dcterms:modified>
  <cp:category/>
  <cp:contentStatus/>
</cp:coreProperties>
</file>